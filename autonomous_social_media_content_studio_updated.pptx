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61" r:id="rId6"/>
    <p:sldId id="269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2"/>
  </p:normalViewPr>
  <p:slideViewPr>
    <p:cSldViewPr snapToGrid="0">
      <p:cViewPr varScale="1">
        <p:scale>
          <a:sx n="111" d="100"/>
          <a:sy n="111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1"/>
          <p:cNvSpPr/>
          <p:nvPr/>
        </p:nvSpPr>
        <p:spPr>
          <a:xfrm>
            <a:off x="8869680" y="457200"/>
            <a:ext cx="2194561" cy="2194561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Oval 2"/>
          <p:cNvSpPr/>
          <p:nvPr/>
        </p:nvSpPr>
        <p:spPr>
          <a:xfrm>
            <a:off x="9875519" y="2057400"/>
            <a:ext cx="1371601" cy="1371600"/>
          </a:xfrm>
          <a:prstGeom prst="ellipse">
            <a:avLst/>
          </a:prstGeom>
          <a:solidFill>
            <a:srgbClr val="65A5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6" name="Oval 3"/>
          <p:cNvSpPr/>
          <p:nvPr/>
        </p:nvSpPr>
        <p:spPr>
          <a:xfrm>
            <a:off x="8046719" y="2880360"/>
            <a:ext cx="914401" cy="914401"/>
          </a:xfrm>
          <a:prstGeom prst="ellipse">
            <a:avLst/>
          </a:prstGeom>
          <a:solidFill>
            <a:srgbClr val="FFC75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7" name="Oval 4"/>
          <p:cNvSpPr/>
          <p:nvPr/>
        </p:nvSpPr>
        <p:spPr>
          <a:xfrm>
            <a:off x="10241280" y="3931920"/>
            <a:ext cx="685801" cy="685801"/>
          </a:xfrm>
          <a:prstGeom prst="ellipse">
            <a:avLst/>
          </a:prstGeom>
          <a:solidFill>
            <a:srgbClr val="FF7C7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" name="Rectangle 5"/>
          <p:cNvSpPr/>
          <p:nvPr/>
        </p:nvSpPr>
        <p:spPr>
          <a:xfrm>
            <a:off x="658368" y="777239"/>
            <a:ext cx="73153" cy="4434842"/>
          </a:xfrm>
          <a:prstGeom prst="rect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9" name="TextBox 6"/>
          <p:cNvSpPr txBox="1"/>
          <p:nvPr/>
        </p:nvSpPr>
        <p:spPr>
          <a:xfrm>
            <a:off x="960119" y="777240"/>
            <a:ext cx="603504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COURSE 4  •  FINAL PROJECT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932687" y="1325879"/>
            <a:ext cx="6949442" cy="181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3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Autonomous</a:t>
            </a:r>
          </a:p>
          <a:p>
            <a:pPr>
              <a:spcBef>
                <a:spcPts val="500"/>
              </a:spcBef>
              <a:defRPr sz="3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Social Media</a:t>
            </a:r>
          </a:p>
          <a:p>
            <a:pPr>
              <a:spcBef>
                <a:spcPts val="500"/>
              </a:spcBef>
              <a:defRPr sz="3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Content Studio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987551" y="4069079"/>
            <a:ext cx="630936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7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manager-led multi-agent system for platform-specific content creation, review, and refinement.</a:t>
            </a:r>
          </a:p>
        </p:txBody>
      </p:sp>
      <p:sp>
        <p:nvSpPr>
          <p:cNvPr id="102" name="Rounded Rectangle 9"/>
          <p:cNvSpPr/>
          <p:nvPr/>
        </p:nvSpPr>
        <p:spPr>
          <a:xfrm>
            <a:off x="987552" y="5166359"/>
            <a:ext cx="3200401" cy="50292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" name="TextBox 10"/>
          <p:cNvSpPr txBox="1"/>
          <p:nvPr/>
        </p:nvSpPr>
        <p:spPr>
          <a:xfrm>
            <a:off x="1170432" y="5321808"/>
            <a:ext cx="28803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LANGGRAPH  •  FASTAPI  •  LLMs</a:t>
            </a:r>
          </a:p>
        </p:txBody>
      </p:sp>
      <p:sp>
        <p:nvSpPr>
          <p:cNvPr id="104" name="TextBox 11"/>
          <p:cNvSpPr txBox="1"/>
          <p:nvPr/>
        </p:nvSpPr>
        <p:spPr>
          <a:xfrm>
            <a:off x="987552" y="5989320"/>
            <a:ext cx="36576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Project Presentation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 txBox="1"/>
          <p:nvPr/>
        </p:nvSpPr>
        <p:spPr>
          <a:xfrm>
            <a:off x="594359" y="347472"/>
            <a:ext cx="107899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01 / OVERVIEW</a:t>
            </a:r>
          </a:p>
        </p:txBody>
      </p:sp>
      <p:sp>
        <p:nvSpPr>
          <p:cNvPr id="107" name="TextBox 2"/>
          <p:cNvSpPr txBox="1"/>
          <p:nvPr/>
        </p:nvSpPr>
        <p:spPr>
          <a:xfrm>
            <a:off x="594359" y="713231"/>
            <a:ext cx="10972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28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From one idea to platform-ready drafts</a:t>
            </a:r>
          </a:p>
        </p:txBody>
      </p:sp>
      <p:sp>
        <p:nvSpPr>
          <p:cNvPr id="108" name="TextBox 3"/>
          <p:cNvSpPr txBox="1"/>
          <p:nvPr/>
        </p:nvSpPr>
        <p:spPr>
          <a:xfrm>
            <a:off x="621792" y="1298447"/>
            <a:ext cx="108813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system adapts a source idea into distinct drafts while keeping people in control.</a:t>
            </a:r>
          </a:p>
        </p:txBody>
      </p:sp>
      <p:sp>
        <p:nvSpPr>
          <p:cNvPr id="109" name="TextBox 4"/>
          <p:cNvSpPr txBox="1"/>
          <p:nvPr/>
        </p:nvSpPr>
        <p:spPr>
          <a:xfrm>
            <a:off x="11201400" y="338327"/>
            <a:ext cx="4114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sz="10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02</a:t>
            </a:r>
          </a:p>
        </p:txBody>
      </p:sp>
      <p:sp>
        <p:nvSpPr>
          <p:cNvPr id="110" name="Rounded Rectangle 5"/>
          <p:cNvSpPr/>
          <p:nvPr/>
        </p:nvSpPr>
        <p:spPr>
          <a:xfrm>
            <a:off x="658368" y="1920239"/>
            <a:ext cx="3429001" cy="237744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1" name="Rectangle 6"/>
          <p:cNvSpPr/>
          <p:nvPr/>
        </p:nvSpPr>
        <p:spPr>
          <a:xfrm>
            <a:off x="658368" y="1920239"/>
            <a:ext cx="64009" cy="2377441"/>
          </a:xfrm>
          <a:prstGeom prst="rect">
            <a:avLst/>
          </a:prstGeom>
          <a:solidFill>
            <a:srgbClr val="FF7C7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" name="TextBox 7"/>
          <p:cNvSpPr txBox="1"/>
          <p:nvPr/>
        </p:nvSpPr>
        <p:spPr>
          <a:xfrm>
            <a:off x="859536" y="2084832"/>
            <a:ext cx="30632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PROBLEM</a:t>
            </a:r>
          </a:p>
        </p:txBody>
      </p:sp>
      <p:sp>
        <p:nvSpPr>
          <p:cNvPr id="113" name="TextBox 8"/>
          <p:cNvSpPr txBox="1"/>
          <p:nvPr/>
        </p:nvSpPr>
        <p:spPr>
          <a:xfrm>
            <a:off x="859536" y="2487167"/>
            <a:ext cx="3063240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4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One message rarely works equally well across every social platform.</a:t>
            </a:r>
          </a:p>
          <a:p>
            <a:pPr>
              <a:spcBef>
                <a:spcPts val="500"/>
              </a:spcBef>
              <a:defRPr sz="14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  <a:p>
            <a:pPr>
              <a:spcBef>
                <a:spcPts val="500"/>
              </a:spcBef>
              <a:defRPr sz="14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Creators need different formats, tones, and lengths—without repetitive manual rewriting.</a:t>
            </a:r>
          </a:p>
        </p:txBody>
      </p:sp>
      <p:sp>
        <p:nvSpPr>
          <p:cNvPr id="114" name="Rounded Rectangle 9"/>
          <p:cNvSpPr/>
          <p:nvPr/>
        </p:nvSpPr>
        <p:spPr>
          <a:xfrm>
            <a:off x="4370832" y="1920239"/>
            <a:ext cx="3429001" cy="237744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5" name="Rectangle 10"/>
          <p:cNvSpPr/>
          <p:nvPr/>
        </p:nvSpPr>
        <p:spPr>
          <a:xfrm>
            <a:off x="4370832" y="1920239"/>
            <a:ext cx="64009" cy="2377441"/>
          </a:xfrm>
          <a:prstGeom prst="rect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" name="TextBox 11"/>
          <p:cNvSpPr txBox="1"/>
          <p:nvPr/>
        </p:nvSpPr>
        <p:spPr>
          <a:xfrm>
            <a:off x="4572000" y="2084832"/>
            <a:ext cx="30632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SOLUTION</a:t>
            </a:r>
          </a:p>
        </p:txBody>
      </p:sp>
      <p:sp>
        <p:nvSpPr>
          <p:cNvPr id="117" name="TextBox 12"/>
          <p:cNvSpPr txBox="1"/>
          <p:nvPr/>
        </p:nvSpPr>
        <p:spPr>
          <a:xfrm>
            <a:off x="4572000" y="2487167"/>
            <a:ext cx="3063240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4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coordinated team of AI agents plans, drafts, reviews, and refines content for each selected platform.</a:t>
            </a:r>
          </a:p>
        </p:txBody>
      </p:sp>
      <p:sp>
        <p:nvSpPr>
          <p:cNvPr id="118" name="Rounded Rectangle 13"/>
          <p:cNvSpPr/>
          <p:nvPr/>
        </p:nvSpPr>
        <p:spPr>
          <a:xfrm>
            <a:off x="8083295" y="1920239"/>
            <a:ext cx="3429001" cy="237744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9" name="Rectangle 14"/>
          <p:cNvSpPr/>
          <p:nvPr/>
        </p:nvSpPr>
        <p:spPr>
          <a:xfrm>
            <a:off x="8083295" y="1920239"/>
            <a:ext cx="64009" cy="2377441"/>
          </a:xfrm>
          <a:prstGeom prst="rect">
            <a:avLst/>
          </a:prstGeom>
          <a:solidFill>
            <a:srgbClr val="65A5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" name="TextBox 15"/>
          <p:cNvSpPr txBox="1"/>
          <p:nvPr/>
        </p:nvSpPr>
        <p:spPr>
          <a:xfrm>
            <a:off x="8284464" y="2084832"/>
            <a:ext cx="306324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OUTCOME</a:t>
            </a:r>
          </a:p>
        </p:txBody>
      </p:sp>
      <p:sp>
        <p:nvSpPr>
          <p:cNvPr id="121" name="TextBox 16"/>
          <p:cNvSpPr txBox="1"/>
          <p:nvPr/>
        </p:nvSpPr>
        <p:spPr>
          <a:xfrm>
            <a:off x="8284464" y="2487167"/>
            <a:ext cx="306324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4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separate draft for each requested platform, ready for human review and copying—not automatic publishing.</a:t>
            </a:r>
          </a:p>
        </p:txBody>
      </p:sp>
      <p:sp>
        <p:nvSpPr>
          <p:cNvPr id="122" name="TextBox 17"/>
          <p:cNvSpPr txBox="1"/>
          <p:nvPr/>
        </p:nvSpPr>
        <p:spPr>
          <a:xfrm>
            <a:off x="749808" y="4800600"/>
            <a:ext cx="2286001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SUPPORTED PLATFORMS</a:t>
            </a:r>
          </a:p>
        </p:txBody>
      </p:sp>
      <p:sp>
        <p:nvSpPr>
          <p:cNvPr id="123" name="Rounded Rectangle 18"/>
          <p:cNvSpPr/>
          <p:nvPr/>
        </p:nvSpPr>
        <p:spPr>
          <a:xfrm>
            <a:off x="777240" y="5212079"/>
            <a:ext cx="1920240" cy="6400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4" name="TextBox 19"/>
          <p:cNvSpPr txBox="1"/>
          <p:nvPr/>
        </p:nvSpPr>
        <p:spPr>
          <a:xfrm>
            <a:off x="905255" y="5376671"/>
            <a:ext cx="38404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4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in</a:t>
            </a:r>
          </a:p>
        </p:txBody>
      </p:sp>
      <p:sp>
        <p:nvSpPr>
          <p:cNvPr id="125" name="TextBox 20"/>
          <p:cNvSpPr txBox="1"/>
          <p:nvPr/>
        </p:nvSpPr>
        <p:spPr>
          <a:xfrm>
            <a:off x="1344167" y="5385815"/>
            <a:ext cx="11887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LinkedIn</a:t>
            </a:r>
          </a:p>
        </p:txBody>
      </p:sp>
      <p:sp>
        <p:nvSpPr>
          <p:cNvPr id="126" name="Rounded Rectangle 21"/>
          <p:cNvSpPr/>
          <p:nvPr/>
        </p:nvSpPr>
        <p:spPr>
          <a:xfrm>
            <a:off x="3017520" y="5212079"/>
            <a:ext cx="1920241" cy="6400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7" name="TextBox 22"/>
          <p:cNvSpPr txBox="1"/>
          <p:nvPr/>
        </p:nvSpPr>
        <p:spPr>
          <a:xfrm>
            <a:off x="3145535" y="5376671"/>
            <a:ext cx="38404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X</a:t>
            </a:r>
          </a:p>
        </p:txBody>
      </p:sp>
      <p:sp>
        <p:nvSpPr>
          <p:cNvPr id="128" name="TextBox 23"/>
          <p:cNvSpPr txBox="1"/>
          <p:nvPr/>
        </p:nvSpPr>
        <p:spPr>
          <a:xfrm>
            <a:off x="3584447" y="5385815"/>
            <a:ext cx="11887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X</a:t>
            </a:r>
          </a:p>
        </p:txBody>
      </p:sp>
      <p:sp>
        <p:nvSpPr>
          <p:cNvPr id="129" name="Rounded Rectangle 24"/>
          <p:cNvSpPr/>
          <p:nvPr/>
        </p:nvSpPr>
        <p:spPr>
          <a:xfrm>
            <a:off x="5257800" y="5212079"/>
            <a:ext cx="1920240" cy="6400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TextBox 25"/>
          <p:cNvSpPr txBox="1"/>
          <p:nvPr/>
        </p:nvSpPr>
        <p:spPr>
          <a:xfrm>
            <a:off x="5385815" y="5376671"/>
            <a:ext cx="384049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400" b="1">
                <a:solidFill>
                  <a:srgbClr val="FF7C7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◎</a:t>
            </a:r>
          </a:p>
        </p:txBody>
      </p:sp>
      <p:sp>
        <p:nvSpPr>
          <p:cNvPr id="131" name="TextBox 26"/>
          <p:cNvSpPr txBox="1"/>
          <p:nvPr/>
        </p:nvSpPr>
        <p:spPr>
          <a:xfrm>
            <a:off x="5824728" y="5385815"/>
            <a:ext cx="11887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Instagram</a:t>
            </a:r>
          </a:p>
        </p:txBody>
      </p:sp>
      <p:sp>
        <p:nvSpPr>
          <p:cNvPr id="132" name="Rounded Rectangle 27"/>
          <p:cNvSpPr/>
          <p:nvPr/>
        </p:nvSpPr>
        <p:spPr>
          <a:xfrm>
            <a:off x="7498080" y="5212079"/>
            <a:ext cx="1920241" cy="6400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3" name="TextBox 28"/>
          <p:cNvSpPr txBox="1"/>
          <p:nvPr/>
        </p:nvSpPr>
        <p:spPr>
          <a:xfrm>
            <a:off x="7626095" y="5376671"/>
            <a:ext cx="38404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400" b="1">
                <a:solidFill>
                  <a:srgbClr val="65A5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▶</a:t>
            </a:r>
          </a:p>
        </p:txBody>
      </p:sp>
      <p:sp>
        <p:nvSpPr>
          <p:cNvPr id="134" name="TextBox 29"/>
          <p:cNvSpPr txBox="1"/>
          <p:nvPr/>
        </p:nvSpPr>
        <p:spPr>
          <a:xfrm>
            <a:off x="8065007" y="5385815"/>
            <a:ext cx="11887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YouTube</a:t>
            </a:r>
          </a:p>
        </p:txBody>
      </p:sp>
      <p:sp>
        <p:nvSpPr>
          <p:cNvPr id="135" name="Rounded Rectangle 30"/>
          <p:cNvSpPr/>
          <p:nvPr/>
        </p:nvSpPr>
        <p:spPr>
          <a:xfrm>
            <a:off x="9738359" y="5212079"/>
            <a:ext cx="1920241" cy="6400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TextBox 31"/>
          <p:cNvSpPr txBox="1"/>
          <p:nvPr/>
        </p:nvSpPr>
        <p:spPr>
          <a:xfrm>
            <a:off x="9866376" y="5376671"/>
            <a:ext cx="38404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400" b="1">
                <a:solidFill>
                  <a:srgbClr val="65A5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</a:t>
            </a:r>
          </a:p>
        </p:txBody>
      </p:sp>
      <p:sp>
        <p:nvSpPr>
          <p:cNvPr id="137" name="TextBox 32"/>
          <p:cNvSpPr txBox="1"/>
          <p:nvPr/>
        </p:nvSpPr>
        <p:spPr>
          <a:xfrm>
            <a:off x="10305288" y="5385815"/>
            <a:ext cx="118872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Facebook</a:t>
            </a:r>
          </a:p>
        </p:txBody>
      </p:sp>
      <p:sp>
        <p:nvSpPr>
          <p:cNvPr id="138" name="Rectangle 33"/>
          <p:cNvSpPr/>
          <p:nvPr/>
        </p:nvSpPr>
        <p:spPr>
          <a:xfrm>
            <a:off x="594359" y="6509663"/>
            <a:ext cx="11018522" cy="12701"/>
          </a:xfrm>
          <a:prstGeom prst="rect">
            <a:avLst/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9" name="TextBox 34"/>
          <p:cNvSpPr txBox="1"/>
          <p:nvPr/>
        </p:nvSpPr>
        <p:spPr>
          <a:xfrm>
            <a:off x="612648" y="6565392"/>
            <a:ext cx="6400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AUTONOMOUS SOCIAL MEDIA CONTENT STUDIO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 txBox="1"/>
          <p:nvPr/>
        </p:nvSpPr>
        <p:spPr>
          <a:xfrm>
            <a:off x="594359" y="347472"/>
            <a:ext cx="107899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02 / OBJECTIVES</a:t>
            </a:r>
          </a:p>
        </p:txBody>
      </p:sp>
      <p:sp>
        <p:nvSpPr>
          <p:cNvPr id="142" name="TextBox 2"/>
          <p:cNvSpPr txBox="1"/>
          <p:nvPr/>
        </p:nvSpPr>
        <p:spPr>
          <a:xfrm>
            <a:off x="594359" y="713231"/>
            <a:ext cx="10972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28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What the system is designed to demonstrate</a:t>
            </a:r>
          </a:p>
        </p:txBody>
      </p:sp>
      <p:sp>
        <p:nvSpPr>
          <p:cNvPr id="143" name="TextBox 3"/>
          <p:cNvSpPr txBox="1"/>
          <p:nvPr/>
        </p:nvSpPr>
        <p:spPr>
          <a:xfrm>
            <a:off x="621792" y="1298447"/>
            <a:ext cx="108813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Aligned with the course goals for autonomous, production-oriented agent systems.</a:t>
            </a:r>
          </a:p>
        </p:txBody>
      </p:sp>
      <p:sp>
        <p:nvSpPr>
          <p:cNvPr id="144" name="TextBox 4"/>
          <p:cNvSpPr txBox="1"/>
          <p:nvPr/>
        </p:nvSpPr>
        <p:spPr>
          <a:xfrm>
            <a:off x="11201400" y="338327"/>
            <a:ext cx="4114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sz="10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03</a:t>
            </a:r>
          </a:p>
        </p:txBody>
      </p:sp>
      <p:sp>
        <p:nvSpPr>
          <p:cNvPr id="145" name="Rounded Rectangle 5"/>
          <p:cNvSpPr/>
          <p:nvPr/>
        </p:nvSpPr>
        <p:spPr>
          <a:xfrm>
            <a:off x="685800" y="1901951"/>
            <a:ext cx="3493009" cy="16002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6" name="TextBox 6"/>
          <p:cNvSpPr txBox="1"/>
          <p:nvPr/>
        </p:nvSpPr>
        <p:spPr>
          <a:xfrm>
            <a:off x="868680" y="2066544"/>
            <a:ext cx="4572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01</a:t>
            </a:r>
          </a:p>
        </p:txBody>
      </p:sp>
      <p:sp>
        <p:nvSpPr>
          <p:cNvPr id="147" name="TextBox 7"/>
          <p:cNvSpPr txBox="1"/>
          <p:nvPr/>
        </p:nvSpPr>
        <p:spPr>
          <a:xfrm>
            <a:off x="1435607" y="2066544"/>
            <a:ext cx="25146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Stateful workflow</a:t>
            </a:r>
          </a:p>
        </p:txBody>
      </p:sp>
      <p:sp>
        <p:nvSpPr>
          <p:cNvPr id="148" name="TextBox 8"/>
          <p:cNvSpPr txBox="1"/>
          <p:nvPr/>
        </p:nvSpPr>
        <p:spPr>
          <a:xfrm>
            <a:off x="886967" y="2542032"/>
            <a:ext cx="3063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Represent progress, plans, drafts, reviews, and refinement state.</a:t>
            </a:r>
          </a:p>
        </p:txBody>
      </p:sp>
      <p:sp>
        <p:nvSpPr>
          <p:cNvPr id="149" name="Rounded Rectangle 9"/>
          <p:cNvSpPr/>
          <p:nvPr/>
        </p:nvSpPr>
        <p:spPr>
          <a:xfrm>
            <a:off x="4507991" y="1901951"/>
            <a:ext cx="3493009" cy="16002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" name="TextBox 10"/>
          <p:cNvSpPr txBox="1"/>
          <p:nvPr/>
        </p:nvSpPr>
        <p:spPr>
          <a:xfrm>
            <a:off x="4690871" y="2066544"/>
            <a:ext cx="4572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65A5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02</a:t>
            </a:r>
          </a:p>
        </p:txBody>
      </p:sp>
      <p:sp>
        <p:nvSpPr>
          <p:cNvPr id="151" name="TextBox 11"/>
          <p:cNvSpPr txBox="1"/>
          <p:nvPr/>
        </p:nvSpPr>
        <p:spPr>
          <a:xfrm>
            <a:off x="5257800" y="2066544"/>
            <a:ext cx="251460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Role-based agents</a:t>
            </a:r>
          </a:p>
        </p:txBody>
      </p:sp>
      <p:sp>
        <p:nvSpPr>
          <p:cNvPr id="152" name="TextBox 12"/>
          <p:cNvSpPr txBox="1"/>
          <p:nvPr/>
        </p:nvSpPr>
        <p:spPr>
          <a:xfrm>
            <a:off x="4709159" y="2542032"/>
            <a:ext cx="3063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Give the manager, platform agents, and reviewer clear responsibilities.</a:t>
            </a:r>
          </a:p>
        </p:txBody>
      </p:sp>
      <p:sp>
        <p:nvSpPr>
          <p:cNvPr id="153" name="Rounded Rectangle 13"/>
          <p:cNvSpPr/>
          <p:nvPr/>
        </p:nvSpPr>
        <p:spPr>
          <a:xfrm>
            <a:off x="8330183" y="1901951"/>
            <a:ext cx="3493009" cy="16002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4" name="TextBox 14"/>
          <p:cNvSpPr txBox="1"/>
          <p:nvPr/>
        </p:nvSpPr>
        <p:spPr>
          <a:xfrm>
            <a:off x="8513063" y="2066544"/>
            <a:ext cx="4572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FFC75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03</a:t>
            </a:r>
          </a:p>
        </p:txBody>
      </p:sp>
      <p:sp>
        <p:nvSpPr>
          <p:cNvPr id="155" name="TextBox 15"/>
          <p:cNvSpPr txBox="1"/>
          <p:nvPr/>
        </p:nvSpPr>
        <p:spPr>
          <a:xfrm>
            <a:off x="9079992" y="2066544"/>
            <a:ext cx="25146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Plan–Act–Check</a:t>
            </a:r>
          </a:p>
        </p:txBody>
      </p:sp>
      <p:sp>
        <p:nvSpPr>
          <p:cNvPr id="156" name="TextBox 16"/>
          <p:cNvSpPr txBox="1"/>
          <p:nvPr/>
        </p:nvSpPr>
        <p:spPr>
          <a:xfrm>
            <a:off x="8531352" y="2542032"/>
            <a:ext cx="3063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Generate drafts, score them against the plan, and feed back improvements.</a:t>
            </a:r>
          </a:p>
        </p:txBody>
      </p:sp>
      <p:sp>
        <p:nvSpPr>
          <p:cNvPr id="157" name="Rounded Rectangle 17"/>
          <p:cNvSpPr/>
          <p:nvPr/>
        </p:nvSpPr>
        <p:spPr>
          <a:xfrm>
            <a:off x="685800" y="3840479"/>
            <a:ext cx="3493009" cy="16002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8" name="TextBox 18"/>
          <p:cNvSpPr txBox="1"/>
          <p:nvPr/>
        </p:nvSpPr>
        <p:spPr>
          <a:xfrm>
            <a:off x="868680" y="4005071"/>
            <a:ext cx="4572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FF7C7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04</a:t>
            </a:r>
          </a:p>
        </p:txBody>
      </p:sp>
      <p:sp>
        <p:nvSpPr>
          <p:cNvPr id="159" name="TextBox 19"/>
          <p:cNvSpPr txBox="1"/>
          <p:nvPr/>
        </p:nvSpPr>
        <p:spPr>
          <a:xfrm>
            <a:off x="1435607" y="4005071"/>
            <a:ext cx="25146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Hierarchical delegation</a:t>
            </a:r>
          </a:p>
        </p:txBody>
      </p:sp>
      <p:sp>
        <p:nvSpPr>
          <p:cNvPr id="160" name="TextBox 20"/>
          <p:cNvSpPr txBox="1"/>
          <p:nvPr/>
        </p:nvSpPr>
        <p:spPr>
          <a:xfrm>
            <a:off x="886967" y="4480559"/>
            <a:ext cx="3063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Break the brief into structured platform-specific tasks.</a:t>
            </a:r>
          </a:p>
        </p:txBody>
      </p:sp>
      <p:sp>
        <p:nvSpPr>
          <p:cNvPr id="161" name="Rounded Rectangle 21"/>
          <p:cNvSpPr/>
          <p:nvPr/>
        </p:nvSpPr>
        <p:spPr>
          <a:xfrm>
            <a:off x="4507991" y="3840479"/>
            <a:ext cx="3493009" cy="16002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2" name="TextBox 22"/>
          <p:cNvSpPr txBox="1"/>
          <p:nvPr/>
        </p:nvSpPr>
        <p:spPr>
          <a:xfrm>
            <a:off x="4690871" y="4005071"/>
            <a:ext cx="4572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6CD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05</a:t>
            </a:r>
          </a:p>
        </p:txBody>
      </p:sp>
      <p:sp>
        <p:nvSpPr>
          <p:cNvPr id="163" name="TextBox 23"/>
          <p:cNvSpPr txBox="1"/>
          <p:nvPr/>
        </p:nvSpPr>
        <p:spPr>
          <a:xfrm>
            <a:off x="5257800" y="4005071"/>
            <a:ext cx="2514600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Bounded optimization</a:t>
            </a:r>
          </a:p>
        </p:txBody>
      </p:sp>
      <p:sp>
        <p:nvSpPr>
          <p:cNvPr id="164" name="TextBox 24"/>
          <p:cNvSpPr txBox="1"/>
          <p:nvPr/>
        </p:nvSpPr>
        <p:spPr>
          <a:xfrm>
            <a:off x="4709159" y="4480559"/>
            <a:ext cx="3063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Use parallel work and a limited refinement pass to balance quality and latency.</a:t>
            </a:r>
          </a:p>
        </p:txBody>
      </p:sp>
      <p:sp>
        <p:nvSpPr>
          <p:cNvPr id="165" name="Rounded Rectangle 25"/>
          <p:cNvSpPr/>
          <p:nvPr/>
        </p:nvSpPr>
        <p:spPr>
          <a:xfrm>
            <a:off x="8330183" y="3840479"/>
            <a:ext cx="3493009" cy="16002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6" name="TextBox 26"/>
          <p:cNvSpPr txBox="1"/>
          <p:nvPr/>
        </p:nvSpPr>
        <p:spPr>
          <a:xfrm>
            <a:off x="8513063" y="4005071"/>
            <a:ext cx="4572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06</a:t>
            </a:r>
          </a:p>
        </p:txBody>
      </p:sp>
      <p:sp>
        <p:nvSpPr>
          <p:cNvPr id="167" name="TextBox 27"/>
          <p:cNvSpPr txBox="1"/>
          <p:nvPr/>
        </p:nvSpPr>
        <p:spPr>
          <a:xfrm>
            <a:off x="9079992" y="4005071"/>
            <a:ext cx="25146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Safe human control</a:t>
            </a:r>
          </a:p>
        </p:txBody>
      </p:sp>
      <p:sp>
        <p:nvSpPr>
          <p:cNvPr id="168" name="TextBox 28"/>
          <p:cNvSpPr txBox="1"/>
          <p:nvPr/>
        </p:nvSpPr>
        <p:spPr>
          <a:xfrm>
            <a:off x="8531352" y="4480559"/>
            <a:ext cx="3063241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Validate inputs and outputs; leave final publishing decisions to the user.</a:t>
            </a:r>
          </a:p>
        </p:txBody>
      </p:sp>
      <p:sp>
        <p:nvSpPr>
          <p:cNvPr id="169" name="Rectangle 29"/>
          <p:cNvSpPr/>
          <p:nvPr/>
        </p:nvSpPr>
        <p:spPr>
          <a:xfrm>
            <a:off x="594359" y="6509663"/>
            <a:ext cx="11018522" cy="12701"/>
          </a:xfrm>
          <a:prstGeom prst="rect">
            <a:avLst/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0" name="TextBox 30"/>
          <p:cNvSpPr txBox="1"/>
          <p:nvPr/>
        </p:nvSpPr>
        <p:spPr>
          <a:xfrm>
            <a:off x="612648" y="6565392"/>
            <a:ext cx="6400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AUTONOMOUS SOCIAL MEDIA CONTENT STUDIO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177F55-BB75-7E0A-F47C-9A86E139B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5544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3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4" name="Autonomous Social Media Architecture Flow.png" descr="Autonomous Social Media Architecture 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0"/>
            <a:ext cx="121412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3FDB0-1B83-6B86-8D60-3364DB3D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755E5-E55E-0854-9FB3-D70B5903F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0EAD4-67AA-CCB3-59BB-CFBC09C5F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2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9369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1"/>
          <p:cNvSpPr txBox="1"/>
          <p:nvPr/>
        </p:nvSpPr>
        <p:spPr>
          <a:xfrm>
            <a:off x="594359" y="347472"/>
            <a:ext cx="107899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06 / STATE &amp; CONTROL</a:t>
            </a:r>
          </a:p>
        </p:txBody>
      </p:sp>
      <p:sp>
        <p:nvSpPr>
          <p:cNvPr id="257" name="TextBox 2"/>
          <p:cNvSpPr txBox="1"/>
          <p:nvPr/>
        </p:nvSpPr>
        <p:spPr>
          <a:xfrm>
            <a:off x="594359" y="713231"/>
            <a:ext cx="10972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28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Workflow state makes coordination explicit</a:t>
            </a:r>
          </a:p>
        </p:txBody>
      </p:sp>
      <p:sp>
        <p:nvSpPr>
          <p:cNvPr id="258" name="TextBox 3"/>
          <p:cNvSpPr txBox="1"/>
          <p:nvPr/>
        </p:nvSpPr>
        <p:spPr>
          <a:xfrm>
            <a:off x="621792" y="1298447"/>
            <a:ext cx="108813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graph carries both current results and histories needed for review and refinement.</a:t>
            </a:r>
          </a:p>
        </p:txBody>
      </p:sp>
      <p:sp>
        <p:nvSpPr>
          <p:cNvPr id="259" name="TextBox 4"/>
          <p:cNvSpPr txBox="1"/>
          <p:nvPr/>
        </p:nvSpPr>
        <p:spPr>
          <a:xfrm>
            <a:off x="11201400" y="338327"/>
            <a:ext cx="4114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sz="10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07</a:t>
            </a:r>
          </a:p>
        </p:txBody>
      </p:sp>
      <p:sp>
        <p:nvSpPr>
          <p:cNvPr id="260" name="Rounded Rectangle 5"/>
          <p:cNvSpPr/>
          <p:nvPr/>
        </p:nvSpPr>
        <p:spPr>
          <a:xfrm>
            <a:off x="868680" y="1828800"/>
            <a:ext cx="1920240" cy="475488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3EDB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1" name="TextBox 6"/>
          <p:cNvSpPr txBox="1"/>
          <p:nvPr/>
        </p:nvSpPr>
        <p:spPr>
          <a:xfrm>
            <a:off x="987552" y="1947672"/>
            <a:ext cx="16916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INPUT</a:t>
            </a:r>
          </a:p>
        </p:txBody>
      </p:sp>
      <p:sp>
        <p:nvSpPr>
          <p:cNvPr id="262" name="TextBox 7"/>
          <p:cNvSpPr txBox="1"/>
          <p:nvPr/>
        </p:nvSpPr>
        <p:spPr>
          <a:xfrm>
            <a:off x="3063239" y="1938527"/>
            <a:ext cx="512064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source • audience • platforms</a:t>
            </a:r>
          </a:p>
        </p:txBody>
      </p:sp>
      <p:sp>
        <p:nvSpPr>
          <p:cNvPr id="263" name="Connector 8"/>
          <p:cNvSpPr/>
          <p:nvPr/>
        </p:nvSpPr>
        <p:spPr>
          <a:xfrm>
            <a:off x="1828800" y="2304287"/>
            <a:ext cx="1" cy="182881"/>
          </a:xfrm>
          <a:prstGeom prst="line">
            <a:avLst/>
          </a:prstGeom>
          <a:ln w="12700">
            <a:solidFill>
              <a:srgbClr val="65A5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64" name="Rounded Rectangle 9"/>
          <p:cNvSpPr/>
          <p:nvPr/>
        </p:nvSpPr>
        <p:spPr>
          <a:xfrm>
            <a:off x="868680" y="2487167"/>
            <a:ext cx="1920240" cy="475489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65A5FF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5" name="TextBox 10"/>
          <p:cNvSpPr txBox="1"/>
          <p:nvPr/>
        </p:nvSpPr>
        <p:spPr>
          <a:xfrm>
            <a:off x="987552" y="2606038"/>
            <a:ext cx="16916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PLAN</a:t>
            </a:r>
          </a:p>
        </p:txBody>
      </p:sp>
      <p:sp>
        <p:nvSpPr>
          <p:cNvPr id="266" name="TextBox 11"/>
          <p:cNvSpPr txBox="1"/>
          <p:nvPr/>
        </p:nvSpPr>
        <p:spPr>
          <a:xfrm>
            <a:off x="3063239" y="2596895"/>
            <a:ext cx="512064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tasks • tone • format • key points</a:t>
            </a:r>
          </a:p>
        </p:txBody>
      </p:sp>
      <p:sp>
        <p:nvSpPr>
          <p:cNvPr id="267" name="Connector 12"/>
          <p:cNvSpPr/>
          <p:nvPr/>
        </p:nvSpPr>
        <p:spPr>
          <a:xfrm>
            <a:off x="1828799" y="2962656"/>
            <a:ext cx="1" cy="182880"/>
          </a:xfrm>
          <a:prstGeom prst="line">
            <a:avLst/>
          </a:prstGeom>
          <a:ln w="12700">
            <a:solidFill>
              <a:srgbClr val="65A5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68" name="Rounded Rectangle 13"/>
          <p:cNvSpPr/>
          <p:nvPr/>
        </p:nvSpPr>
        <p:spPr>
          <a:xfrm>
            <a:off x="868680" y="3145535"/>
            <a:ext cx="1920240" cy="475489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FFC75F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9" name="TextBox 14"/>
          <p:cNvSpPr txBox="1"/>
          <p:nvPr/>
        </p:nvSpPr>
        <p:spPr>
          <a:xfrm>
            <a:off x="987552" y="3264408"/>
            <a:ext cx="16916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EXECUTION</a:t>
            </a:r>
          </a:p>
        </p:txBody>
      </p:sp>
      <p:sp>
        <p:nvSpPr>
          <p:cNvPr id="270" name="TextBox 15"/>
          <p:cNvSpPr txBox="1"/>
          <p:nvPr/>
        </p:nvSpPr>
        <p:spPr>
          <a:xfrm>
            <a:off x="3063239" y="3255264"/>
            <a:ext cx="512064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per-platform runs and draft outputs</a:t>
            </a:r>
          </a:p>
        </p:txBody>
      </p:sp>
      <p:sp>
        <p:nvSpPr>
          <p:cNvPr id="271" name="Connector 16"/>
          <p:cNvSpPr/>
          <p:nvPr/>
        </p:nvSpPr>
        <p:spPr>
          <a:xfrm>
            <a:off x="1828800" y="3621024"/>
            <a:ext cx="1" cy="182881"/>
          </a:xfrm>
          <a:prstGeom prst="line">
            <a:avLst/>
          </a:prstGeom>
          <a:ln w="12700">
            <a:solidFill>
              <a:srgbClr val="65A5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72" name="Rounded Rectangle 17"/>
          <p:cNvSpPr/>
          <p:nvPr/>
        </p:nvSpPr>
        <p:spPr>
          <a:xfrm>
            <a:off x="868680" y="3803903"/>
            <a:ext cx="1920240" cy="475489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FF7C7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3" name="TextBox 18"/>
          <p:cNvSpPr txBox="1"/>
          <p:nvPr/>
        </p:nvSpPr>
        <p:spPr>
          <a:xfrm>
            <a:off x="987552" y="3922776"/>
            <a:ext cx="16916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REVIEW</a:t>
            </a:r>
          </a:p>
        </p:txBody>
      </p:sp>
      <p:sp>
        <p:nvSpPr>
          <p:cNvPr id="274" name="TextBox 19"/>
          <p:cNvSpPr txBox="1"/>
          <p:nvPr/>
        </p:nvSpPr>
        <p:spPr>
          <a:xfrm>
            <a:off x="3063239" y="3913632"/>
            <a:ext cx="512064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scores • statuses • feedback</a:t>
            </a:r>
          </a:p>
        </p:txBody>
      </p:sp>
      <p:sp>
        <p:nvSpPr>
          <p:cNvPr id="275" name="Connector 20"/>
          <p:cNvSpPr/>
          <p:nvPr/>
        </p:nvSpPr>
        <p:spPr>
          <a:xfrm>
            <a:off x="1828800" y="4279392"/>
            <a:ext cx="1" cy="182881"/>
          </a:xfrm>
          <a:prstGeom prst="line">
            <a:avLst/>
          </a:prstGeom>
          <a:ln w="12700">
            <a:solidFill>
              <a:srgbClr val="65A5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76" name="Rounded Rectangle 21"/>
          <p:cNvSpPr/>
          <p:nvPr/>
        </p:nvSpPr>
        <p:spPr>
          <a:xfrm>
            <a:off x="868680" y="4462271"/>
            <a:ext cx="1920240" cy="475489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6CDC9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7" name="TextBox 22"/>
          <p:cNvSpPr txBox="1"/>
          <p:nvPr/>
        </p:nvSpPr>
        <p:spPr>
          <a:xfrm>
            <a:off x="987552" y="4581144"/>
            <a:ext cx="16916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REFINEMENT</a:t>
            </a:r>
          </a:p>
        </p:txBody>
      </p:sp>
      <p:sp>
        <p:nvSpPr>
          <p:cNvPr id="278" name="TextBox 23"/>
          <p:cNvSpPr txBox="1"/>
          <p:nvPr/>
        </p:nvSpPr>
        <p:spPr>
          <a:xfrm>
            <a:off x="3063239" y="4572000"/>
            <a:ext cx="5120642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iteration counter • revised plan</a:t>
            </a:r>
          </a:p>
        </p:txBody>
      </p:sp>
      <p:sp>
        <p:nvSpPr>
          <p:cNvPr id="279" name="Connector 24"/>
          <p:cNvSpPr/>
          <p:nvPr/>
        </p:nvSpPr>
        <p:spPr>
          <a:xfrm>
            <a:off x="1828800" y="4937759"/>
            <a:ext cx="1" cy="182882"/>
          </a:xfrm>
          <a:prstGeom prst="line">
            <a:avLst/>
          </a:prstGeom>
          <a:ln w="12700">
            <a:solidFill>
              <a:srgbClr val="65A5FF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280" name="Rounded Rectangle 25"/>
          <p:cNvSpPr/>
          <p:nvPr/>
        </p:nvSpPr>
        <p:spPr>
          <a:xfrm>
            <a:off x="868680" y="5120640"/>
            <a:ext cx="1920240" cy="475489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3EDB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1" name="TextBox 26"/>
          <p:cNvSpPr txBox="1"/>
          <p:nvPr/>
        </p:nvSpPr>
        <p:spPr>
          <a:xfrm>
            <a:off x="987552" y="5239511"/>
            <a:ext cx="16916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FINAL</a:t>
            </a:r>
          </a:p>
        </p:txBody>
      </p:sp>
      <p:sp>
        <p:nvSpPr>
          <p:cNvPr id="282" name="TextBox 27"/>
          <p:cNvSpPr txBox="1"/>
          <p:nvPr/>
        </p:nvSpPr>
        <p:spPr>
          <a:xfrm>
            <a:off x="3063239" y="5230367"/>
            <a:ext cx="512064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latest draft per requested platform</a:t>
            </a:r>
          </a:p>
        </p:txBody>
      </p:sp>
      <p:sp>
        <p:nvSpPr>
          <p:cNvPr id="283" name="Rounded Rectangle 28"/>
          <p:cNvSpPr/>
          <p:nvPr/>
        </p:nvSpPr>
        <p:spPr>
          <a:xfrm>
            <a:off x="8458200" y="2011679"/>
            <a:ext cx="2834640" cy="27432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4" name="TextBox 29"/>
          <p:cNvSpPr txBox="1"/>
          <p:nvPr/>
        </p:nvSpPr>
        <p:spPr>
          <a:xfrm>
            <a:off x="8732519" y="2267711"/>
            <a:ext cx="228600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5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CONTROL RULES</a:t>
            </a:r>
          </a:p>
        </p:txBody>
      </p:sp>
      <p:sp>
        <p:nvSpPr>
          <p:cNvPr id="285" name="Oval 30"/>
          <p:cNvSpPr/>
          <p:nvPr/>
        </p:nvSpPr>
        <p:spPr>
          <a:xfrm>
            <a:off x="8732519" y="2843783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6" name="TextBox 31"/>
          <p:cNvSpPr txBox="1"/>
          <p:nvPr/>
        </p:nvSpPr>
        <p:spPr>
          <a:xfrm>
            <a:off x="8933688" y="2743200"/>
            <a:ext cx="2039112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At least one supported platform</a:t>
            </a:r>
          </a:p>
        </p:txBody>
      </p:sp>
      <p:sp>
        <p:nvSpPr>
          <p:cNvPr id="287" name="Oval 32"/>
          <p:cNvSpPr/>
          <p:nvPr/>
        </p:nvSpPr>
        <p:spPr>
          <a:xfrm>
            <a:off x="8732519" y="3200400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8" name="TextBox 33"/>
          <p:cNvSpPr txBox="1"/>
          <p:nvPr/>
        </p:nvSpPr>
        <p:spPr>
          <a:xfrm>
            <a:off x="8933688" y="3099816"/>
            <a:ext cx="20391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One latest result per platform</a:t>
            </a:r>
          </a:p>
        </p:txBody>
      </p:sp>
      <p:sp>
        <p:nvSpPr>
          <p:cNvPr id="289" name="Oval 34"/>
          <p:cNvSpPr/>
          <p:nvPr/>
        </p:nvSpPr>
        <p:spPr>
          <a:xfrm>
            <a:off x="8732519" y="3557015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0" name="TextBox 35"/>
          <p:cNvSpPr txBox="1"/>
          <p:nvPr/>
        </p:nvSpPr>
        <p:spPr>
          <a:xfrm>
            <a:off x="8933688" y="3456432"/>
            <a:ext cx="20391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Reviewer threshold: 0.80</a:t>
            </a:r>
          </a:p>
        </p:txBody>
      </p:sp>
      <p:sp>
        <p:nvSpPr>
          <p:cNvPr id="291" name="Oval 36"/>
          <p:cNvSpPr/>
          <p:nvPr/>
        </p:nvSpPr>
        <p:spPr>
          <a:xfrm>
            <a:off x="8732519" y="3913632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2" name="TextBox 37"/>
          <p:cNvSpPr txBox="1"/>
          <p:nvPr/>
        </p:nvSpPr>
        <p:spPr>
          <a:xfrm>
            <a:off x="8933688" y="3813047"/>
            <a:ext cx="20391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One refinement pass maximum</a:t>
            </a:r>
          </a:p>
        </p:txBody>
      </p:sp>
      <p:sp>
        <p:nvSpPr>
          <p:cNvPr id="293" name="Oval 38"/>
          <p:cNvSpPr/>
          <p:nvPr/>
        </p:nvSpPr>
        <p:spPr>
          <a:xfrm>
            <a:off x="8732519" y="4270247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4" name="TextBox 39"/>
          <p:cNvSpPr txBox="1"/>
          <p:nvPr/>
        </p:nvSpPr>
        <p:spPr>
          <a:xfrm>
            <a:off x="8933688" y="4169664"/>
            <a:ext cx="2039112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Output safety check before response</a:t>
            </a:r>
          </a:p>
        </p:txBody>
      </p:sp>
      <p:sp>
        <p:nvSpPr>
          <p:cNvPr id="295" name="Rectangle 40"/>
          <p:cNvSpPr/>
          <p:nvPr/>
        </p:nvSpPr>
        <p:spPr>
          <a:xfrm>
            <a:off x="594359" y="6509663"/>
            <a:ext cx="11018522" cy="12701"/>
          </a:xfrm>
          <a:prstGeom prst="rect">
            <a:avLst/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6" name="TextBox 41"/>
          <p:cNvSpPr txBox="1"/>
          <p:nvPr/>
        </p:nvSpPr>
        <p:spPr>
          <a:xfrm>
            <a:off x="612648" y="6565392"/>
            <a:ext cx="6400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AUTONOMOUS SOCIAL MEDIA CONTENT STUDIO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extBox 1"/>
          <p:cNvSpPr txBox="1"/>
          <p:nvPr/>
        </p:nvSpPr>
        <p:spPr>
          <a:xfrm>
            <a:off x="594359" y="347472"/>
            <a:ext cx="107899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07 / TECHNOLOGY</a:t>
            </a:r>
          </a:p>
        </p:txBody>
      </p:sp>
      <p:sp>
        <p:nvSpPr>
          <p:cNvPr id="299" name="TextBox 2"/>
          <p:cNvSpPr txBox="1"/>
          <p:nvPr/>
        </p:nvSpPr>
        <p:spPr>
          <a:xfrm>
            <a:off x="594359" y="713231"/>
            <a:ext cx="10972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28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modular stack for UI, orchestration, and model access</a:t>
            </a:r>
          </a:p>
        </p:txBody>
      </p:sp>
      <p:sp>
        <p:nvSpPr>
          <p:cNvPr id="300" name="TextBox 3"/>
          <p:cNvSpPr txBox="1"/>
          <p:nvPr/>
        </p:nvSpPr>
        <p:spPr>
          <a:xfrm>
            <a:off x="621792" y="1298447"/>
            <a:ext cx="108813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Each layer has a defined responsibility and can be tested or configured independently.</a:t>
            </a:r>
          </a:p>
        </p:txBody>
      </p:sp>
      <p:sp>
        <p:nvSpPr>
          <p:cNvPr id="301" name="TextBox 4"/>
          <p:cNvSpPr txBox="1"/>
          <p:nvPr/>
        </p:nvSpPr>
        <p:spPr>
          <a:xfrm>
            <a:off x="11201400" y="338327"/>
            <a:ext cx="4114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sz="10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08</a:t>
            </a:r>
          </a:p>
        </p:txBody>
      </p:sp>
      <p:sp>
        <p:nvSpPr>
          <p:cNvPr id="302" name="Rounded Rectangle 5"/>
          <p:cNvSpPr/>
          <p:nvPr/>
        </p:nvSpPr>
        <p:spPr>
          <a:xfrm>
            <a:off x="822960" y="1828800"/>
            <a:ext cx="2057401" cy="594360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3EDB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3" name="TextBox 6"/>
          <p:cNvSpPr txBox="1"/>
          <p:nvPr/>
        </p:nvSpPr>
        <p:spPr>
          <a:xfrm>
            <a:off x="932688" y="2020823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FRONTEND</a:t>
            </a:r>
          </a:p>
        </p:txBody>
      </p:sp>
      <p:sp>
        <p:nvSpPr>
          <p:cNvPr id="304" name="TextBox 7"/>
          <p:cNvSpPr txBox="1"/>
          <p:nvPr/>
        </p:nvSpPr>
        <p:spPr>
          <a:xfrm>
            <a:off x="3246120" y="1892806"/>
            <a:ext cx="36576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React 19 • TypeScript • Vite</a:t>
            </a:r>
          </a:p>
        </p:txBody>
      </p:sp>
      <p:sp>
        <p:nvSpPr>
          <p:cNvPr id="305" name="TextBox 8"/>
          <p:cNvSpPr txBox="1"/>
          <p:nvPr/>
        </p:nvSpPr>
        <p:spPr>
          <a:xfrm>
            <a:off x="6858000" y="1892806"/>
            <a:ext cx="42976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Collect brief, track request state, show drafts, copy output</a:t>
            </a:r>
          </a:p>
        </p:txBody>
      </p:sp>
      <p:sp>
        <p:nvSpPr>
          <p:cNvPr id="306" name="Rounded Rectangle 9"/>
          <p:cNvSpPr/>
          <p:nvPr/>
        </p:nvSpPr>
        <p:spPr>
          <a:xfrm>
            <a:off x="822960" y="2633472"/>
            <a:ext cx="2057401" cy="594360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65A5FF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7" name="TextBox 10"/>
          <p:cNvSpPr txBox="1"/>
          <p:nvPr/>
        </p:nvSpPr>
        <p:spPr>
          <a:xfrm>
            <a:off x="932688" y="2825495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API</a:t>
            </a:r>
          </a:p>
        </p:txBody>
      </p:sp>
      <p:sp>
        <p:nvSpPr>
          <p:cNvPr id="308" name="TextBox 11"/>
          <p:cNvSpPr txBox="1"/>
          <p:nvPr/>
        </p:nvSpPr>
        <p:spPr>
          <a:xfrm>
            <a:off x="3246120" y="2697478"/>
            <a:ext cx="36576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65A5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FastAPI • request/response schemas</a:t>
            </a:r>
          </a:p>
        </p:txBody>
      </p:sp>
      <p:sp>
        <p:nvSpPr>
          <p:cNvPr id="309" name="TextBox 12"/>
          <p:cNvSpPr txBox="1"/>
          <p:nvPr/>
        </p:nvSpPr>
        <p:spPr>
          <a:xfrm>
            <a:off x="6858000" y="2697478"/>
            <a:ext cx="42976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Validate input, choose model tier, invoke workflow, check output</a:t>
            </a:r>
          </a:p>
        </p:txBody>
      </p:sp>
      <p:sp>
        <p:nvSpPr>
          <p:cNvPr id="310" name="Rounded Rectangle 13"/>
          <p:cNvSpPr/>
          <p:nvPr/>
        </p:nvSpPr>
        <p:spPr>
          <a:xfrm>
            <a:off x="822960" y="3438144"/>
            <a:ext cx="2057401" cy="59436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FFC75F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1" name="TextBox 14"/>
          <p:cNvSpPr txBox="1"/>
          <p:nvPr/>
        </p:nvSpPr>
        <p:spPr>
          <a:xfrm>
            <a:off x="932688" y="3630167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ORCHESTRATION</a:t>
            </a:r>
          </a:p>
        </p:txBody>
      </p:sp>
      <p:sp>
        <p:nvSpPr>
          <p:cNvPr id="312" name="TextBox 15"/>
          <p:cNvSpPr txBox="1"/>
          <p:nvPr/>
        </p:nvSpPr>
        <p:spPr>
          <a:xfrm>
            <a:off x="3246120" y="3502150"/>
            <a:ext cx="36576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FFC75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LangGraph • shared workflow state</a:t>
            </a:r>
          </a:p>
        </p:txBody>
      </p:sp>
      <p:sp>
        <p:nvSpPr>
          <p:cNvPr id="313" name="TextBox 16"/>
          <p:cNvSpPr txBox="1"/>
          <p:nvPr/>
        </p:nvSpPr>
        <p:spPr>
          <a:xfrm>
            <a:off x="6858000" y="3502150"/>
            <a:ext cx="42976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Parallel branches, review routing, bounded refinement</a:t>
            </a:r>
          </a:p>
        </p:txBody>
      </p:sp>
      <p:sp>
        <p:nvSpPr>
          <p:cNvPr id="314" name="Rounded Rectangle 17"/>
          <p:cNvSpPr/>
          <p:nvPr/>
        </p:nvSpPr>
        <p:spPr>
          <a:xfrm>
            <a:off x="822960" y="4242815"/>
            <a:ext cx="2057401" cy="59436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FF7C7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5" name="TextBox 18"/>
          <p:cNvSpPr txBox="1"/>
          <p:nvPr/>
        </p:nvSpPr>
        <p:spPr>
          <a:xfrm>
            <a:off x="932688" y="4434840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MODEL ACCESS</a:t>
            </a:r>
          </a:p>
        </p:txBody>
      </p:sp>
      <p:sp>
        <p:nvSpPr>
          <p:cNvPr id="316" name="TextBox 19"/>
          <p:cNvSpPr txBox="1"/>
          <p:nvPr/>
        </p:nvSpPr>
        <p:spPr>
          <a:xfrm>
            <a:off x="3246120" y="4306823"/>
            <a:ext cx="36576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FF7C7C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LiteLLM • Ollama • Azure OpenAI</a:t>
            </a:r>
          </a:p>
        </p:txBody>
      </p:sp>
      <p:sp>
        <p:nvSpPr>
          <p:cNvPr id="317" name="TextBox 20"/>
          <p:cNvSpPr txBox="1"/>
          <p:nvPr/>
        </p:nvSpPr>
        <p:spPr>
          <a:xfrm>
            <a:off x="6858000" y="4306823"/>
            <a:ext cx="42976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Simple tier and complex/review tiers via aliases</a:t>
            </a:r>
          </a:p>
        </p:txBody>
      </p:sp>
      <p:sp>
        <p:nvSpPr>
          <p:cNvPr id="318" name="Rounded Rectangle 21"/>
          <p:cNvSpPr/>
          <p:nvPr/>
        </p:nvSpPr>
        <p:spPr>
          <a:xfrm>
            <a:off x="822960" y="5047488"/>
            <a:ext cx="2057401" cy="59436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6CDC9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9" name="TextBox 22"/>
          <p:cNvSpPr txBox="1"/>
          <p:nvPr/>
        </p:nvSpPr>
        <p:spPr>
          <a:xfrm>
            <a:off x="932688" y="5239511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1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OBSERVABILITY</a:t>
            </a:r>
          </a:p>
        </p:txBody>
      </p:sp>
      <p:sp>
        <p:nvSpPr>
          <p:cNvPr id="320" name="TextBox 23"/>
          <p:cNvSpPr txBox="1"/>
          <p:nvPr/>
        </p:nvSpPr>
        <p:spPr>
          <a:xfrm>
            <a:off x="3246120" y="5111496"/>
            <a:ext cx="365760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6CDC9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Langfuse prompts and traces</a:t>
            </a:r>
          </a:p>
        </p:txBody>
      </p:sp>
      <p:sp>
        <p:nvSpPr>
          <p:cNvPr id="321" name="TextBox 24"/>
          <p:cNvSpPr txBox="1"/>
          <p:nvPr/>
        </p:nvSpPr>
        <p:spPr>
          <a:xfrm>
            <a:off x="6858000" y="5111496"/>
            <a:ext cx="429768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Retrieve production-labeled prompts; tracing is configurable</a:t>
            </a:r>
          </a:p>
        </p:txBody>
      </p:sp>
      <p:sp>
        <p:nvSpPr>
          <p:cNvPr id="322" name="Rectangle 25"/>
          <p:cNvSpPr/>
          <p:nvPr/>
        </p:nvSpPr>
        <p:spPr>
          <a:xfrm>
            <a:off x="594359" y="6509663"/>
            <a:ext cx="11018522" cy="12701"/>
          </a:xfrm>
          <a:prstGeom prst="rect">
            <a:avLst/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3" name="TextBox 26"/>
          <p:cNvSpPr txBox="1"/>
          <p:nvPr/>
        </p:nvSpPr>
        <p:spPr>
          <a:xfrm>
            <a:off x="612648" y="6565392"/>
            <a:ext cx="6400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AUTONOMOUS SOCIAL MEDIA CONTENT STUDIO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Box 1"/>
          <p:cNvSpPr txBox="1"/>
          <p:nvPr/>
        </p:nvSpPr>
        <p:spPr>
          <a:xfrm>
            <a:off x="594359" y="347472"/>
            <a:ext cx="107899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08 / INTERFACE</a:t>
            </a:r>
          </a:p>
        </p:txBody>
      </p:sp>
      <p:sp>
        <p:nvSpPr>
          <p:cNvPr id="326" name="TextBox 2"/>
          <p:cNvSpPr txBox="1"/>
          <p:nvPr/>
        </p:nvSpPr>
        <p:spPr>
          <a:xfrm>
            <a:off x="594359" y="713231"/>
            <a:ext cx="10972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28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simple request contract, clear user states</a:t>
            </a:r>
          </a:p>
        </p:txBody>
      </p:sp>
      <p:sp>
        <p:nvSpPr>
          <p:cNvPr id="327" name="TextBox 3"/>
          <p:cNvSpPr txBox="1"/>
          <p:nvPr/>
        </p:nvSpPr>
        <p:spPr>
          <a:xfrm>
            <a:off x="621792" y="1298447"/>
            <a:ext cx="108813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UI communicates progress and recovery paths while keeping the generated drafts reviewable.</a:t>
            </a:r>
          </a:p>
        </p:txBody>
      </p:sp>
      <p:sp>
        <p:nvSpPr>
          <p:cNvPr id="328" name="TextBox 4"/>
          <p:cNvSpPr txBox="1"/>
          <p:nvPr/>
        </p:nvSpPr>
        <p:spPr>
          <a:xfrm>
            <a:off x="11201400" y="338327"/>
            <a:ext cx="4114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sz="10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09</a:t>
            </a:r>
          </a:p>
        </p:txBody>
      </p:sp>
      <p:sp>
        <p:nvSpPr>
          <p:cNvPr id="329" name="Rounded Rectangle 5"/>
          <p:cNvSpPr/>
          <p:nvPr/>
        </p:nvSpPr>
        <p:spPr>
          <a:xfrm>
            <a:off x="713231" y="1874518"/>
            <a:ext cx="3474722" cy="18288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0" name="Rectangle 6"/>
          <p:cNvSpPr/>
          <p:nvPr/>
        </p:nvSpPr>
        <p:spPr>
          <a:xfrm>
            <a:off x="713231" y="1874518"/>
            <a:ext cx="64009" cy="1828801"/>
          </a:xfrm>
          <a:prstGeom prst="rect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1" name="TextBox 7"/>
          <p:cNvSpPr txBox="1"/>
          <p:nvPr/>
        </p:nvSpPr>
        <p:spPr>
          <a:xfrm>
            <a:off x="914400" y="2039111"/>
            <a:ext cx="31089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REQUEST</a:t>
            </a:r>
          </a:p>
        </p:txBody>
      </p:sp>
      <p:sp>
        <p:nvSpPr>
          <p:cNvPr id="332" name="TextBox 8"/>
          <p:cNvSpPr txBox="1"/>
          <p:nvPr/>
        </p:nvSpPr>
        <p:spPr>
          <a:xfrm>
            <a:off x="914400" y="2441448"/>
            <a:ext cx="3108961" cy="117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POST /content/generate</a:t>
            </a:r>
          </a:p>
          <a:p>
            <a: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  <a:p>
            <a: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content: required, up to 12,000 chars</a:t>
            </a:r>
          </a:p>
          <a:p>
            <a: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platforms: at least one supported value</a:t>
            </a:r>
          </a:p>
          <a:p>
            <a: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audience: optional, up to 180 chars</a:t>
            </a:r>
          </a:p>
        </p:txBody>
      </p:sp>
      <p:sp>
        <p:nvSpPr>
          <p:cNvPr id="333" name="Rounded Rectangle 9"/>
          <p:cNvSpPr/>
          <p:nvPr/>
        </p:nvSpPr>
        <p:spPr>
          <a:xfrm>
            <a:off x="4370832" y="1874518"/>
            <a:ext cx="3474721" cy="18288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4" name="Rectangle 10"/>
          <p:cNvSpPr/>
          <p:nvPr/>
        </p:nvSpPr>
        <p:spPr>
          <a:xfrm>
            <a:off x="4370832" y="1874518"/>
            <a:ext cx="64009" cy="1828801"/>
          </a:xfrm>
          <a:prstGeom prst="rect">
            <a:avLst/>
          </a:prstGeom>
          <a:solidFill>
            <a:srgbClr val="65A5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5" name="TextBox 11"/>
          <p:cNvSpPr txBox="1"/>
          <p:nvPr/>
        </p:nvSpPr>
        <p:spPr>
          <a:xfrm>
            <a:off x="4572000" y="2039111"/>
            <a:ext cx="31089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SUCCESS</a:t>
            </a:r>
          </a:p>
        </p:txBody>
      </p:sp>
      <p:sp>
        <p:nvSpPr>
          <p:cNvPr id="336" name="TextBox 12"/>
          <p:cNvSpPr txBox="1"/>
          <p:nvPr/>
        </p:nvSpPr>
        <p:spPr>
          <a:xfrm>
            <a:off x="4572000" y="2441448"/>
            <a:ext cx="3108961" cy="110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JSON response includes processed_content entries.</a:t>
            </a:r>
          </a:p>
          <a:p>
            <a: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  <a:p>
            <a: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Each entry associates a platform with its generated draft.</a:t>
            </a:r>
          </a:p>
        </p:txBody>
      </p:sp>
      <p:sp>
        <p:nvSpPr>
          <p:cNvPr id="337" name="Rounded Rectangle 13"/>
          <p:cNvSpPr/>
          <p:nvPr/>
        </p:nvSpPr>
        <p:spPr>
          <a:xfrm>
            <a:off x="8028430" y="1874518"/>
            <a:ext cx="3474721" cy="182880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8" name="Rectangle 14"/>
          <p:cNvSpPr/>
          <p:nvPr/>
        </p:nvSpPr>
        <p:spPr>
          <a:xfrm>
            <a:off x="8028430" y="1874518"/>
            <a:ext cx="64009" cy="1828801"/>
          </a:xfrm>
          <a:prstGeom prst="rect">
            <a:avLst/>
          </a:prstGeom>
          <a:solidFill>
            <a:srgbClr val="FF7C7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9" name="TextBox 15"/>
          <p:cNvSpPr txBox="1"/>
          <p:nvPr/>
        </p:nvSpPr>
        <p:spPr>
          <a:xfrm>
            <a:off x="8229600" y="2039111"/>
            <a:ext cx="31089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RECOVERY</a:t>
            </a:r>
          </a:p>
        </p:txBody>
      </p:sp>
      <p:sp>
        <p:nvSpPr>
          <p:cNvPr id="340" name="TextBox 16"/>
          <p:cNvSpPr txBox="1"/>
          <p:nvPr/>
        </p:nvSpPr>
        <p:spPr>
          <a:xfrm>
            <a:off x="8229600" y="2441448"/>
            <a:ext cx="3108961" cy="104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422 validation • 503 service • 504 timeout • 500 workflow failure</a:t>
            </a:r>
          </a:p>
          <a:p>
            <a: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endParaRPr/>
          </a:p>
          <a:p>
            <a:pPr>
              <a:spcBef>
                <a:spcPts val="500"/>
              </a:spcBef>
              <a:defRPr sz="11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UI shows concise messages rather than server internals.</a:t>
            </a:r>
          </a:p>
        </p:txBody>
      </p:sp>
      <p:sp>
        <p:nvSpPr>
          <p:cNvPr id="341" name="TextBox 17"/>
          <p:cNvSpPr txBox="1"/>
          <p:nvPr/>
        </p:nvSpPr>
        <p:spPr>
          <a:xfrm>
            <a:off x="777240" y="4251959"/>
            <a:ext cx="18288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UI STATES</a:t>
            </a:r>
          </a:p>
        </p:txBody>
      </p:sp>
      <p:sp>
        <p:nvSpPr>
          <p:cNvPr id="342" name="Rounded Rectangle 18"/>
          <p:cNvSpPr/>
          <p:nvPr/>
        </p:nvSpPr>
        <p:spPr>
          <a:xfrm>
            <a:off x="777240" y="4681728"/>
            <a:ext cx="2514601" cy="8686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3EDB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3" name="TextBox 19"/>
          <p:cNvSpPr txBox="1"/>
          <p:nvPr/>
        </p:nvSpPr>
        <p:spPr>
          <a:xfrm>
            <a:off x="914400" y="4828032"/>
            <a:ext cx="22402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Ready</a:t>
            </a:r>
          </a:p>
        </p:txBody>
      </p:sp>
      <p:sp>
        <p:nvSpPr>
          <p:cNvPr id="344" name="TextBox 20"/>
          <p:cNvSpPr txBox="1"/>
          <p:nvPr/>
        </p:nvSpPr>
        <p:spPr>
          <a:xfrm>
            <a:off x="914400" y="5138928"/>
            <a:ext cx="22402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Form + intro panel</a:t>
            </a:r>
          </a:p>
        </p:txBody>
      </p:sp>
      <p:sp>
        <p:nvSpPr>
          <p:cNvPr id="345" name="Rounded Rectangle 21"/>
          <p:cNvSpPr/>
          <p:nvPr/>
        </p:nvSpPr>
        <p:spPr>
          <a:xfrm>
            <a:off x="3566159" y="4681728"/>
            <a:ext cx="2514601" cy="8686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65A5FF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6" name="TextBox 22"/>
          <p:cNvSpPr txBox="1"/>
          <p:nvPr/>
        </p:nvSpPr>
        <p:spPr>
          <a:xfrm>
            <a:off x="3703320" y="4828032"/>
            <a:ext cx="22402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Loading</a:t>
            </a:r>
          </a:p>
        </p:txBody>
      </p:sp>
      <p:sp>
        <p:nvSpPr>
          <p:cNvPr id="347" name="TextBox 23"/>
          <p:cNvSpPr txBox="1"/>
          <p:nvPr/>
        </p:nvSpPr>
        <p:spPr>
          <a:xfrm>
            <a:off x="3703320" y="5138928"/>
            <a:ext cx="22402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Progress + cancel</a:t>
            </a:r>
          </a:p>
        </p:txBody>
      </p:sp>
      <p:sp>
        <p:nvSpPr>
          <p:cNvPr id="348" name="Rounded Rectangle 24"/>
          <p:cNvSpPr/>
          <p:nvPr/>
        </p:nvSpPr>
        <p:spPr>
          <a:xfrm>
            <a:off x="6355079" y="4681728"/>
            <a:ext cx="2514601" cy="8686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6CDC9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9" name="TextBox 25"/>
          <p:cNvSpPr txBox="1"/>
          <p:nvPr/>
        </p:nvSpPr>
        <p:spPr>
          <a:xfrm>
            <a:off x="6492240" y="4828032"/>
            <a:ext cx="22402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Results</a:t>
            </a:r>
          </a:p>
        </p:txBody>
      </p:sp>
      <p:sp>
        <p:nvSpPr>
          <p:cNvPr id="350" name="TextBox 26"/>
          <p:cNvSpPr txBox="1"/>
          <p:nvPr/>
        </p:nvSpPr>
        <p:spPr>
          <a:xfrm>
            <a:off x="6492240" y="5138928"/>
            <a:ext cx="22402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Platform cards + copy</a:t>
            </a:r>
          </a:p>
        </p:txBody>
      </p:sp>
      <p:sp>
        <p:nvSpPr>
          <p:cNvPr id="351" name="Rounded Rectangle 27"/>
          <p:cNvSpPr/>
          <p:nvPr/>
        </p:nvSpPr>
        <p:spPr>
          <a:xfrm>
            <a:off x="9143999" y="4681728"/>
            <a:ext cx="2514601" cy="8686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5240">
            <a:solidFill>
              <a:srgbClr val="FF7C7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2" name="TextBox 28"/>
          <p:cNvSpPr txBox="1"/>
          <p:nvPr/>
        </p:nvSpPr>
        <p:spPr>
          <a:xfrm>
            <a:off x="9281159" y="4828032"/>
            <a:ext cx="2240280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Notice / Error</a:t>
            </a:r>
          </a:p>
        </p:txBody>
      </p:sp>
      <p:sp>
        <p:nvSpPr>
          <p:cNvPr id="353" name="TextBox 29"/>
          <p:cNvSpPr txBox="1"/>
          <p:nvPr/>
        </p:nvSpPr>
        <p:spPr>
          <a:xfrm>
            <a:off x="9281159" y="5138928"/>
            <a:ext cx="224028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Guardrail or recovery message</a:t>
            </a:r>
          </a:p>
        </p:txBody>
      </p:sp>
      <p:sp>
        <p:nvSpPr>
          <p:cNvPr id="354" name="Rectangle 30"/>
          <p:cNvSpPr/>
          <p:nvPr/>
        </p:nvSpPr>
        <p:spPr>
          <a:xfrm>
            <a:off x="594359" y="6509663"/>
            <a:ext cx="11018522" cy="12701"/>
          </a:xfrm>
          <a:prstGeom prst="rect">
            <a:avLst/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5" name="TextBox 31"/>
          <p:cNvSpPr txBox="1"/>
          <p:nvPr/>
        </p:nvSpPr>
        <p:spPr>
          <a:xfrm>
            <a:off x="612648" y="6565392"/>
            <a:ext cx="6400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AUTONOMOUS SOCIAL MEDIA CONTENT STUDIO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Box 1"/>
          <p:cNvSpPr txBox="1"/>
          <p:nvPr/>
        </p:nvSpPr>
        <p:spPr>
          <a:xfrm>
            <a:off x="594359" y="347472"/>
            <a:ext cx="107899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09 / GUARDRAILS</a:t>
            </a:r>
          </a:p>
        </p:txBody>
      </p:sp>
      <p:sp>
        <p:nvSpPr>
          <p:cNvPr id="358" name="TextBox 2"/>
          <p:cNvSpPr txBox="1"/>
          <p:nvPr/>
        </p:nvSpPr>
        <p:spPr>
          <a:xfrm>
            <a:off x="594359" y="713231"/>
            <a:ext cx="10972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28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Human review is part of the design</a:t>
            </a:r>
          </a:p>
        </p:txBody>
      </p:sp>
      <p:sp>
        <p:nvSpPr>
          <p:cNvPr id="359" name="TextBox 3"/>
          <p:cNvSpPr txBox="1"/>
          <p:nvPr/>
        </p:nvSpPr>
        <p:spPr>
          <a:xfrm>
            <a:off x="621792" y="1298447"/>
            <a:ext cx="108813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Safety checks and bounded automation support a controlled content workflow.</a:t>
            </a:r>
          </a:p>
        </p:txBody>
      </p:sp>
      <p:sp>
        <p:nvSpPr>
          <p:cNvPr id="360" name="TextBox 4"/>
          <p:cNvSpPr txBox="1"/>
          <p:nvPr/>
        </p:nvSpPr>
        <p:spPr>
          <a:xfrm>
            <a:off x="11201400" y="338327"/>
            <a:ext cx="4114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sz="10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10</a:t>
            </a:r>
          </a:p>
        </p:txBody>
      </p:sp>
      <p:sp>
        <p:nvSpPr>
          <p:cNvPr id="361" name="Rounded Rectangle 5"/>
          <p:cNvSpPr/>
          <p:nvPr/>
        </p:nvSpPr>
        <p:spPr>
          <a:xfrm>
            <a:off x="731519" y="1920239"/>
            <a:ext cx="3429001" cy="219456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2" name="Rectangle 6"/>
          <p:cNvSpPr/>
          <p:nvPr/>
        </p:nvSpPr>
        <p:spPr>
          <a:xfrm>
            <a:off x="731519" y="1920239"/>
            <a:ext cx="64009" cy="2194561"/>
          </a:xfrm>
          <a:prstGeom prst="rect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3" name="TextBox 7"/>
          <p:cNvSpPr txBox="1"/>
          <p:nvPr/>
        </p:nvSpPr>
        <p:spPr>
          <a:xfrm>
            <a:off x="932688" y="2084832"/>
            <a:ext cx="30632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INPUT SAFETY</a:t>
            </a:r>
          </a:p>
        </p:txBody>
      </p:sp>
      <p:sp>
        <p:nvSpPr>
          <p:cNvPr id="364" name="TextBox 8"/>
          <p:cNvSpPr txBox="1"/>
          <p:nvPr/>
        </p:nvSpPr>
        <p:spPr>
          <a:xfrm>
            <a:off x="932688" y="2487167"/>
            <a:ext cx="3063240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4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Validate schema, supported platforms, required content, and input guardrails before generation.</a:t>
            </a:r>
          </a:p>
        </p:txBody>
      </p:sp>
      <p:sp>
        <p:nvSpPr>
          <p:cNvPr id="365" name="Rounded Rectangle 9"/>
          <p:cNvSpPr/>
          <p:nvPr/>
        </p:nvSpPr>
        <p:spPr>
          <a:xfrm>
            <a:off x="4389120" y="1920239"/>
            <a:ext cx="3429001" cy="219456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6" name="Rectangle 10"/>
          <p:cNvSpPr/>
          <p:nvPr/>
        </p:nvSpPr>
        <p:spPr>
          <a:xfrm>
            <a:off x="4389120" y="1920239"/>
            <a:ext cx="64009" cy="2194561"/>
          </a:xfrm>
          <a:prstGeom prst="rect">
            <a:avLst/>
          </a:prstGeom>
          <a:solidFill>
            <a:srgbClr val="FFC75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7" name="TextBox 11"/>
          <p:cNvSpPr txBox="1"/>
          <p:nvPr/>
        </p:nvSpPr>
        <p:spPr>
          <a:xfrm>
            <a:off x="4590288" y="2084832"/>
            <a:ext cx="30632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OUTPUT SAFETY</a:t>
            </a:r>
          </a:p>
        </p:txBody>
      </p:sp>
      <p:sp>
        <p:nvSpPr>
          <p:cNvPr id="368" name="TextBox 12"/>
          <p:cNvSpPr txBox="1"/>
          <p:nvPr/>
        </p:nvSpPr>
        <p:spPr>
          <a:xfrm>
            <a:off x="4590288" y="2487167"/>
            <a:ext cx="3063240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Run output guardrails after the graph returns; safety checks are useful but do not prove every claim is true.</a:t>
            </a:r>
          </a:p>
        </p:txBody>
      </p:sp>
      <p:sp>
        <p:nvSpPr>
          <p:cNvPr id="369" name="Rounded Rectangle 13"/>
          <p:cNvSpPr/>
          <p:nvPr/>
        </p:nvSpPr>
        <p:spPr>
          <a:xfrm>
            <a:off x="8046719" y="1920239"/>
            <a:ext cx="3429001" cy="219456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0" name="Rectangle 14"/>
          <p:cNvSpPr/>
          <p:nvPr/>
        </p:nvSpPr>
        <p:spPr>
          <a:xfrm>
            <a:off x="8046719" y="1920239"/>
            <a:ext cx="64009" cy="2194561"/>
          </a:xfrm>
          <a:prstGeom prst="rect">
            <a:avLst/>
          </a:prstGeom>
          <a:solidFill>
            <a:srgbClr val="FF7C7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1" name="TextBox 15"/>
          <p:cNvSpPr txBox="1"/>
          <p:nvPr/>
        </p:nvSpPr>
        <p:spPr>
          <a:xfrm>
            <a:off x="8247888" y="2084832"/>
            <a:ext cx="3063240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HUMAN CONTROL</a:t>
            </a:r>
          </a:p>
        </p:txBody>
      </p:sp>
      <p:sp>
        <p:nvSpPr>
          <p:cNvPr id="372" name="TextBox 16"/>
          <p:cNvSpPr txBox="1"/>
          <p:nvPr/>
        </p:nvSpPr>
        <p:spPr>
          <a:xfrm>
            <a:off x="8247888" y="2487167"/>
            <a:ext cx="3063240" cy="90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Users review and copy drafts. The system has no social-account connection, scheduling, or automatic publishing.</a:t>
            </a:r>
          </a:p>
        </p:txBody>
      </p:sp>
      <p:sp>
        <p:nvSpPr>
          <p:cNvPr id="373" name="TextBox 17"/>
          <p:cNvSpPr txBox="1"/>
          <p:nvPr/>
        </p:nvSpPr>
        <p:spPr>
          <a:xfrm>
            <a:off x="822960" y="4663440"/>
            <a:ext cx="201167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CURRENT LIMITS</a:t>
            </a:r>
          </a:p>
        </p:txBody>
      </p:sp>
      <p:sp>
        <p:nvSpPr>
          <p:cNvPr id="374" name="Oval 18"/>
          <p:cNvSpPr/>
          <p:nvPr/>
        </p:nvSpPr>
        <p:spPr>
          <a:xfrm>
            <a:off x="868680" y="5175503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5" name="TextBox 19"/>
          <p:cNvSpPr txBox="1"/>
          <p:nvPr/>
        </p:nvSpPr>
        <p:spPr>
          <a:xfrm>
            <a:off x="1069847" y="5074920"/>
            <a:ext cx="1022299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One refinement pass maximum</a:t>
            </a:r>
          </a:p>
        </p:txBody>
      </p:sp>
      <p:sp>
        <p:nvSpPr>
          <p:cNvPr id="376" name="Oval 20"/>
          <p:cNvSpPr/>
          <p:nvPr/>
        </p:nvSpPr>
        <p:spPr>
          <a:xfrm>
            <a:off x="868680" y="5415534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7" name="TextBox 21"/>
          <p:cNvSpPr txBox="1"/>
          <p:nvPr/>
        </p:nvSpPr>
        <p:spPr>
          <a:xfrm>
            <a:off x="1069847" y="5314950"/>
            <a:ext cx="10222994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No persistent draft history across reloads</a:t>
            </a:r>
          </a:p>
        </p:txBody>
      </p:sp>
      <p:sp>
        <p:nvSpPr>
          <p:cNvPr id="378" name="Oval 22"/>
          <p:cNvSpPr/>
          <p:nvPr/>
        </p:nvSpPr>
        <p:spPr>
          <a:xfrm>
            <a:off x="868680" y="5655564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9" name="TextBox 23"/>
          <p:cNvSpPr txBox="1"/>
          <p:nvPr/>
        </p:nvSpPr>
        <p:spPr>
          <a:xfrm>
            <a:off x="1069847" y="5554979"/>
            <a:ext cx="1022299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Health endpoint checks API process only, not every dependency</a:t>
            </a:r>
          </a:p>
        </p:txBody>
      </p:sp>
      <p:sp>
        <p:nvSpPr>
          <p:cNvPr id="380" name="Oval 24"/>
          <p:cNvSpPr/>
          <p:nvPr/>
        </p:nvSpPr>
        <p:spPr>
          <a:xfrm>
            <a:off x="868680" y="5895594"/>
            <a:ext cx="82297" cy="82297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1" name="TextBox 25"/>
          <p:cNvSpPr txBox="1"/>
          <p:nvPr/>
        </p:nvSpPr>
        <p:spPr>
          <a:xfrm>
            <a:off x="1069847" y="5795009"/>
            <a:ext cx="10222994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Cancellation stops the browser wait; backend work may continue</a:t>
            </a:r>
          </a:p>
        </p:txBody>
      </p:sp>
      <p:sp>
        <p:nvSpPr>
          <p:cNvPr id="382" name="Rectangle 26"/>
          <p:cNvSpPr/>
          <p:nvPr/>
        </p:nvSpPr>
        <p:spPr>
          <a:xfrm>
            <a:off x="594359" y="6509663"/>
            <a:ext cx="11018522" cy="12701"/>
          </a:xfrm>
          <a:prstGeom prst="rect">
            <a:avLst/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83" name="TextBox 27"/>
          <p:cNvSpPr txBox="1"/>
          <p:nvPr/>
        </p:nvSpPr>
        <p:spPr>
          <a:xfrm>
            <a:off x="612648" y="6565392"/>
            <a:ext cx="6400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AUTONOMOUS SOCIAL MEDIA CONTENT STUDIO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Box 1"/>
          <p:cNvSpPr txBox="1"/>
          <p:nvPr/>
        </p:nvSpPr>
        <p:spPr>
          <a:xfrm>
            <a:off x="594359" y="347472"/>
            <a:ext cx="107899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10 / OPTIMIZATION</a:t>
            </a:r>
          </a:p>
        </p:txBody>
      </p:sp>
      <p:sp>
        <p:nvSpPr>
          <p:cNvPr id="386" name="TextBox 2"/>
          <p:cNvSpPr txBox="1"/>
          <p:nvPr/>
        </p:nvSpPr>
        <p:spPr>
          <a:xfrm>
            <a:off x="594359" y="713231"/>
            <a:ext cx="10972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28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Quality with bounded cost and latency</a:t>
            </a:r>
          </a:p>
        </p:txBody>
      </p:sp>
      <p:sp>
        <p:nvSpPr>
          <p:cNvPr id="387" name="TextBox 3"/>
          <p:cNvSpPr txBox="1"/>
          <p:nvPr/>
        </p:nvSpPr>
        <p:spPr>
          <a:xfrm>
            <a:off x="621792" y="1298447"/>
            <a:ext cx="108813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implementation uses workflow design choices that limit redundant work.</a:t>
            </a:r>
          </a:p>
        </p:txBody>
      </p:sp>
      <p:sp>
        <p:nvSpPr>
          <p:cNvPr id="388" name="TextBox 4"/>
          <p:cNvSpPr txBox="1"/>
          <p:nvPr/>
        </p:nvSpPr>
        <p:spPr>
          <a:xfrm>
            <a:off x="11201400" y="338327"/>
            <a:ext cx="4114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sz="10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11</a:t>
            </a:r>
          </a:p>
        </p:txBody>
      </p:sp>
      <p:sp>
        <p:nvSpPr>
          <p:cNvPr id="389" name="Rounded Rectangle 5"/>
          <p:cNvSpPr/>
          <p:nvPr/>
        </p:nvSpPr>
        <p:spPr>
          <a:xfrm>
            <a:off x="713231" y="1874518"/>
            <a:ext cx="3474722" cy="20116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0" name="Rectangle 6"/>
          <p:cNvSpPr/>
          <p:nvPr/>
        </p:nvSpPr>
        <p:spPr>
          <a:xfrm>
            <a:off x="713231" y="1874518"/>
            <a:ext cx="64009" cy="2011680"/>
          </a:xfrm>
          <a:prstGeom prst="rect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1" name="TextBox 7"/>
          <p:cNvSpPr txBox="1"/>
          <p:nvPr/>
        </p:nvSpPr>
        <p:spPr>
          <a:xfrm>
            <a:off x="914400" y="2039111"/>
            <a:ext cx="31089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PARALLEL EXECUTION</a:t>
            </a:r>
          </a:p>
        </p:txBody>
      </p:sp>
      <p:sp>
        <p:nvSpPr>
          <p:cNvPr id="392" name="TextBox 8"/>
          <p:cNvSpPr txBox="1"/>
          <p:nvPr/>
        </p:nvSpPr>
        <p:spPr>
          <a:xfrm>
            <a:off x="914400" y="2441448"/>
            <a:ext cx="31089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Independent platform agents run as parallel graph branches instead of waiting for each other.</a:t>
            </a:r>
          </a:p>
        </p:txBody>
      </p:sp>
      <p:sp>
        <p:nvSpPr>
          <p:cNvPr id="393" name="Rounded Rectangle 9"/>
          <p:cNvSpPr/>
          <p:nvPr/>
        </p:nvSpPr>
        <p:spPr>
          <a:xfrm>
            <a:off x="4370832" y="1874518"/>
            <a:ext cx="3474721" cy="20116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4" name="Rectangle 10"/>
          <p:cNvSpPr/>
          <p:nvPr/>
        </p:nvSpPr>
        <p:spPr>
          <a:xfrm>
            <a:off x="4370832" y="1874518"/>
            <a:ext cx="64009" cy="2011680"/>
          </a:xfrm>
          <a:prstGeom prst="rect">
            <a:avLst/>
          </a:prstGeom>
          <a:solidFill>
            <a:srgbClr val="65A5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5" name="TextBox 11"/>
          <p:cNvSpPr txBox="1"/>
          <p:nvPr/>
        </p:nvSpPr>
        <p:spPr>
          <a:xfrm>
            <a:off x="4572000" y="2039111"/>
            <a:ext cx="31089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MODEL TIERS</a:t>
            </a:r>
          </a:p>
        </p:txBody>
      </p:sp>
      <p:sp>
        <p:nvSpPr>
          <p:cNvPr id="396" name="TextBox 12"/>
          <p:cNvSpPr txBox="1"/>
          <p:nvPr/>
        </p:nvSpPr>
        <p:spPr>
          <a:xfrm>
            <a:off x="4572000" y="2441448"/>
            <a:ext cx="3108961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Single-platform requests are classified; multi-platform requests select the complex tier directly.</a:t>
            </a:r>
          </a:p>
        </p:txBody>
      </p:sp>
      <p:sp>
        <p:nvSpPr>
          <p:cNvPr id="397" name="Rounded Rectangle 13"/>
          <p:cNvSpPr/>
          <p:nvPr/>
        </p:nvSpPr>
        <p:spPr>
          <a:xfrm>
            <a:off x="8028430" y="1874518"/>
            <a:ext cx="3474721" cy="2011681"/>
          </a:xfrm>
          <a:prstGeom prst="roundRect">
            <a:avLst>
              <a:gd name="adj" fmla="val 16667"/>
            </a:avLst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8" name="Rectangle 14"/>
          <p:cNvSpPr/>
          <p:nvPr/>
        </p:nvSpPr>
        <p:spPr>
          <a:xfrm>
            <a:off x="8028430" y="1874518"/>
            <a:ext cx="64009" cy="2011680"/>
          </a:xfrm>
          <a:prstGeom prst="rect">
            <a:avLst/>
          </a:prstGeom>
          <a:solidFill>
            <a:srgbClr val="FFC75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99" name="TextBox 15"/>
          <p:cNvSpPr txBox="1"/>
          <p:nvPr/>
        </p:nvSpPr>
        <p:spPr>
          <a:xfrm>
            <a:off x="8229600" y="2039111"/>
            <a:ext cx="3108961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TARGETED REFINEMENT</a:t>
            </a:r>
          </a:p>
        </p:txBody>
      </p:sp>
      <p:sp>
        <p:nvSpPr>
          <p:cNvPr id="400" name="TextBox 16"/>
          <p:cNvSpPr txBox="1"/>
          <p:nvPr/>
        </p:nvSpPr>
        <p:spPr>
          <a:xfrm>
            <a:off x="8229600" y="2441448"/>
            <a:ext cx="31089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3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Only unapproved platforms are replanned, and the route allows one refinement cycle.</a:t>
            </a:r>
          </a:p>
        </p:txBody>
      </p:sp>
      <p:sp>
        <p:nvSpPr>
          <p:cNvPr id="401" name="TextBox 17"/>
          <p:cNvSpPr txBox="1"/>
          <p:nvPr/>
        </p:nvSpPr>
        <p:spPr>
          <a:xfrm>
            <a:off x="822960" y="4434840"/>
            <a:ext cx="228600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DESIGN TRADE-OFF</a:t>
            </a:r>
          </a:p>
        </p:txBody>
      </p:sp>
      <p:sp>
        <p:nvSpPr>
          <p:cNvPr id="402" name="TextBox 18"/>
          <p:cNvSpPr txBox="1"/>
          <p:nvPr/>
        </p:nvSpPr>
        <p:spPr>
          <a:xfrm>
            <a:off x="868680" y="4846320"/>
            <a:ext cx="10424160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700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Bounded retries improve predictability and control cost, but a draft can still be returned when the refinement limit is reached.</a:t>
            </a:r>
          </a:p>
        </p:txBody>
      </p:sp>
      <p:sp>
        <p:nvSpPr>
          <p:cNvPr id="403" name="TextBox 19"/>
          <p:cNvSpPr txBox="1"/>
          <p:nvPr/>
        </p:nvSpPr>
        <p:spPr>
          <a:xfrm>
            <a:off x="868680" y="5715000"/>
            <a:ext cx="10424160" cy="25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100" i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No benchmark numbers are claimed here; latency and quality should be measured in a representative evaluation set.</a:t>
            </a:r>
          </a:p>
        </p:txBody>
      </p:sp>
      <p:sp>
        <p:nvSpPr>
          <p:cNvPr id="404" name="Rectangle 20"/>
          <p:cNvSpPr/>
          <p:nvPr/>
        </p:nvSpPr>
        <p:spPr>
          <a:xfrm>
            <a:off x="594359" y="6509663"/>
            <a:ext cx="11018522" cy="12701"/>
          </a:xfrm>
          <a:prstGeom prst="rect">
            <a:avLst/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05" name="TextBox 21"/>
          <p:cNvSpPr txBox="1"/>
          <p:nvPr/>
        </p:nvSpPr>
        <p:spPr>
          <a:xfrm>
            <a:off x="612648" y="6565392"/>
            <a:ext cx="6400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AUTONOMOUS SOCIAL MEDIA CONTENT STUDIO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Box 1"/>
          <p:cNvSpPr txBox="1"/>
          <p:nvPr/>
        </p:nvSpPr>
        <p:spPr>
          <a:xfrm>
            <a:off x="594359" y="347472"/>
            <a:ext cx="10789922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0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11 / LIVE DEMO</a:t>
            </a:r>
          </a:p>
        </p:txBody>
      </p:sp>
      <p:sp>
        <p:nvSpPr>
          <p:cNvPr id="408" name="TextBox 2"/>
          <p:cNvSpPr txBox="1"/>
          <p:nvPr/>
        </p:nvSpPr>
        <p:spPr>
          <a:xfrm>
            <a:off x="594359" y="713231"/>
            <a:ext cx="1097280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28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 concise end-to-end walkthrough</a:t>
            </a:r>
          </a:p>
        </p:txBody>
      </p:sp>
      <p:sp>
        <p:nvSpPr>
          <p:cNvPr id="409" name="TextBox 3"/>
          <p:cNvSpPr txBox="1"/>
          <p:nvPr/>
        </p:nvSpPr>
        <p:spPr>
          <a:xfrm>
            <a:off x="621792" y="1298447"/>
            <a:ext cx="108813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Demonstrate both the user experience and the underlying agent coordination.</a:t>
            </a:r>
          </a:p>
        </p:txBody>
      </p:sp>
      <p:sp>
        <p:nvSpPr>
          <p:cNvPr id="410" name="TextBox 4"/>
          <p:cNvSpPr txBox="1"/>
          <p:nvPr/>
        </p:nvSpPr>
        <p:spPr>
          <a:xfrm>
            <a:off x="11201400" y="338327"/>
            <a:ext cx="41148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spcBef>
                <a:spcPts val="500"/>
              </a:spcBef>
              <a:defRPr sz="10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12</a:t>
            </a:r>
          </a:p>
        </p:txBody>
      </p:sp>
      <p:sp>
        <p:nvSpPr>
          <p:cNvPr id="411" name="Oval 5"/>
          <p:cNvSpPr/>
          <p:nvPr/>
        </p:nvSpPr>
        <p:spPr>
          <a:xfrm>
            <a:off x="868680" y="1828800"/>
            <a:ext cx="438912" cy="438912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2" name="TextBox 6"/>
          <p:cNvSpPr txBox="1"/>
          <p:nvPr/>
        </p:nvSpPr>
        <p:spPr>
          <a:xfrm>
            <a:off x="932688" y="1956816"/>
            <a:ext cx="31089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000" b="1">
                <a:solidFill>
                  <a:srgbClr val="0D162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01</a:t>
            </a:r>
          </a:p>
        </p:txBody>
      </p:sp>
      <p:sp>
        <p:nvSpPr>
          <p:cNvPr id="413" name="TextBox 7"/>
          <p:cNvSpPr txBox="1"/>
          <p:nvPr/>
        </p:nvSpPr>
        <p:spPr>
          <a:xfrm>
            <a:off x="1572767" y="1847088"/>
            <a:ext cx="32004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Enter a source idea</a:t>
            </a:r>
          </a:p>
        </p:txBody>
      </p:sp>
      <p:sp>
        <p:nvSpPr>
          <p:cNvPr id="414" name="TextBox 8"/>
          <p:cNvSpPr txBox="1"/>
          <p:nvPr/>
        </p:nvSpPr>
        <p:spPr>
          <a:xfrm>
            <a:off x="4572000" y="1847088"/>
            <a:ext cx="6583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Example: launch announcement for a new local café.</a:t>
            </a:r>
          </a:p>
        </p:txBody>
      </p:sp>
      <p:sp>
        <p:nvSpPr>
          <p:cNvPr id="415" name="Oval 9"/>
          <p:cNvSpPr/>
          <p:nvPr/>
        </p:nvSpPr>
        <p:spPr>
          <a:xfrm>
            <a:off x="868680" y="2587751"/>
            <a:ext cx="438912" cy="438913"/>
          </a:xfrm>
          <a:prstGeom prst="ellipse">
            <a:avLst/>
          </a:prstGeom>
          <a:solidFill>
            <a:srgbClr val="65A5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16" name="TextBox 10"/>
          <p:cNvSpPr txBox="1"/>
          <p:nvPr/>
        </p:nvSpPr>
        <p:spPr>
          <a:xfrm>
            <a:off x="932688" y="2715767"/>
            <a:ext cx="31089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000" b="1">
                <a:solidFill>
                  <a:srgbClr val="0D162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02</a:t>
            </a:r>
          </a:p>
        </p:txBody>
      </p:sp>
      <p:sp>
        <p:nvSpPr>
          <p:cNvPr id="417" name="TextBox 11"/>
          <p:cNvSpPr txBox="1"/>
          <p:nvPr/>
        </p:nvSpPr>
        <p:spPr>
          <a:xfrm>
            <a:off x="1572767" y="2606039"/>
            <a:ext cx="32004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Choose audience + platforms</a:t>
            </a:r>
          </a:p>
        </p:txBody>
      </p:sp>
      <p:sp>
        <p:nvSpPr>
          <p:cNvPr id="418" name="TextBox 12"/>
          <p:cNvSpPr txBox="1"/>
          <p:nvPr/>
        </p:nvSpPr>
        <p:spPr>
          <a:xfrm>
            <a:off x="4572000" y="2606039"/>
            <a:ext cx="6583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Select LinkedIn, Instagram, and X; submit the brief.</a:t>
            </a:r>
          </a:p>
        </p:txBody>
      </p:sp>
      <p:sp>
        <p:nvSpPr>
          <p:cNvPr id="419" name="Oval 13"/>
          <p:cNvSpPr/>
          <p:nvPr/>
        </p:nvSpPr>
        <p:spPr>
          <a:xfrm>
            <a:off x="868680" y="3346703"/>
            <a:ext cx="438912" cy="438913"/>
          </a:xfrm>
          <a:prstGeom prst="ellipse">
            <a:avLst/>
          </a:prstGeom>
          <a:solidFill>
            <a:srgbClr val="FFC75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0" name="TextBox 14"/>
          <p:cNvSpPr txBox="1"/>
          <p:nvPr/>
        </p:nvSpPr>
        <p:spPr>
          <a:xfrm>
            <a:off x="932688" y="3474720"/>
            <a:ext cx="31089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000" b="1">
                <a:solidFill>
                  <a:srgbClr val="0D162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03</a:t>
            </a:r>
          </a:p>
        </p:txBody>
      </p:sp>
      <p:sp>
        <p:nvSpPr>
          <p:cNvPr id="421" name="TextBox 15"/>
          <p:cNvSpPr txBox="1"/>
          <p:nvPr/>
        </p:nvSpPr>
        <p:spPr>
          <a:xfrm>
            <a:off x="1572767" y="3364991"/>
            <a:ext cx="32004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Observe the workflow</a:t>
            </a:r>
          </a:p>
        </p:txBody>
      </p:sp>
      <p:sp>
        <p:nvSpPr>
          <p:cNvPr id="422" name="TextBox 16"/>
          <p:cNvSpPr txBox="1"/>
          <p:nvPr/>
        </p:nvSpPr>
        <p:spPr>
          <a:xfrm>
            <a:off x="4572000" y="3364991"/>
            <a:ext cx="6583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Explain validation, manager planning, parallel drafting, and review.</a:t>
            </a:r>
          </a:p>
        </p:txBody>
      </p:sp>
      <p:sp>
        <p:nvSpPr>
          <p:cNvPr id="423" name="Oval 17"/>
          <p:cNvSpPr/>
          <p:nvPr/>
        </p:nvSpPr>
        <p:spPr>
          <a:xfrm>
            <a:off x="868680" y="4105655"/>
            <a:ext cx="438912" cy="438913"/>
          </a:xfrm>
          <a:prstGeom prst="ellipse">
            <a:avLst/>
          </a:prstGeom>
          <a:solidFill>
            <a:srgbClr val="FF7C7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4" name="TextBox 18"/>
          <p:cNvSpPr txBox="1"/>
          <p:nvPr/>
        </p:nvSpPr>
        <p:spPr>
          <a:xfrm>
            <a:off x="932688" y="4233671"/>
            <a:ext cx="31089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000" b="1">
                <a:solidFill>
                  <a:srgbClr val="0D162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04</a:t>
            </a:r>
          </a:p>
        </p:txBody>
      </p:sp>
      <p:sp>
        <p:nvSpPr>
          <p:cNvPr id="425" name="TextBox 19"/>
          <p:cNvSpPr txBox="1"/>
          <p:nvPr/>
        </p:nvSpPr>
        <p:spPr>
          <a:xfrm>
            <a:off x="1572767" y="4123944"/>
            <a:ext cx="32004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Inspect the outputs</a:t>
            </a:r>
          </a:p>
        </p:txBody>
      </p:sp>
      <p:sp>
        <p:nvSpPr>
          <p:cNvPr id="426" name="TextBox 20"/>
          <p:cNvSpPr txBox="1"/>
          <p:nvPr/>
        </p:nvSpPr>
        <p:spPr>
          <a:xfrm>
            <a:off x="4572000" y="4123944"/>
            <a:ext cx="6583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Compare tone and format; show one platform card and copy action.</a:t>
            </a:r>
          </a:p>
        </p:txBody>
      </p:sp>
      <p:sp>
        <p:nvSpPr>
          <p:cNvPr id="427" name="Oval 21"/>
          <p:cNvSpPr/>
          <p:nvPr/>
        </p:nvSpPr>
        <p:spPr>
          <a:xfrm>
            <a:off x="868680" y="4864608"/>
            <a:ext cx="438912" cy="438913"/>
          </a:xfrm>
          <a:prstGeom prst="ellipse">
            <a:avLst/>
          </a:prstGeom>
          <a:solidFill>
            <a:srgbClr val="6CDC97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8" name="TextBox 22"/>
          <p:cNvSpPr txBox="1"/>
          <p:nvPr/>
        </p:nvSpPr>
        <p:spPr>
          <a:xfrm>
            <a:off x="932688" y="4992623"/>
            <a:ext cx="310897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500"/>
              </a:spcBef>
              <a:defRPr sz="1000" b="1">
                <a:solidFill>
                  <a:srgbClr val="0D162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05</a:t>
            </a:r>
          </a:p>
        </p:txBody>
      </p:sp>
      <p:sp>
        <p:nvSpPr>
          <p:cNvPr id="429" name="TextBox 23"/>
          <p:cNvSpPr txBox="1"/>
          <p:nvPr/>
        </p:nvSpPr>
        <p:spPr>
          <a:xfrm>
            <a:off x="1572767" y="4882896"/>
            <a:ext cx="32004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Discuss refinement + limits</a:t>
            </a:r>
          </a:p>
        </p:txBody>
      </p:sp>
      <p:sp>
        <p:nvSpPr>
          <p:cNvPr id="430" name="TextBox 24"/>
          <p:cNvSpPr txBox="1"/>
          <p:nvPr/>
        </p:nvSpPr>
        <p:spPr>
          <a:xfrm>
            <a:off x="4572000" y="4882896"/>
            <a:ext cx="65836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Show feedback routing, bounded retry, and human publishing control.</a:t>
            </a:r>
          </a:p>
        </p:txBody>
      </p:sp>
      <p:sp>
        <p:nvSpPr>
          <p:cNvPr id="431" name="Rectangle 25"/>
          <p:cNvSpPr/>
          <p:nvPr/>
        </p:nvSpPr>
        <p:spPr>
          <a:xfrm>
            <a:off x="594359" y="6509663"/>
            <a:ext cx="11018522" cy="12701"/>
          </a:xfrm>
          <a:prstGeom prst="rect">
            <a:avLst/>
          </a:prstGeom>
          <a:solidFill>
            <a:srgbClr val="1C2B4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2" name="TextBox 26"/>
          <p:cNvSpPr txBox="1"/>
          <p:nvPr/>
        </p:nvSpPr>
        <p:spPr>
          <a:xfrm>
            <a:off x="612648" y="6565392"/>
            <a:ext cx="640080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800" b="1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AUTONOMOUS SOCIAL MEDIA CONTENT STUDIO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1"/>
          <p:cNvSpPr/>
          <p:nvPr/>
        </p:nvSpPr>
        <p:spPr>
          <a:xfrm>
            <a:off x="731519" y="822960"/>
            <a:ext cx="73153" cy="4846321"/>
          </a:xfrm>
          <a:prstGeom prst="rect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5" name="TextBox 2"/>
          <p:cNvSpPr txBox="1"/>
          <p:nvPr/>
        </p:nvSpPr>
        <p:spPr>
          <a:xfrm>
            <a:off x="1097280" y="914400"/>
            <a:ext cx="2743201" cy="26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 b="1">
                <a:solidFill>
                  <a:srgbClr val="3EDBB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TAKEAWAY</a:t>
            </a:r>
          </a:p>
        </p:txBody>
      </p:sp>
      <p:sp>
        <p:nvSpPr>
          <p:cNvPr id="436" name="TextBox 3"/>
          <p:cNvSpPr txBox="1"/>
          <p:nvPr/>
        </p:nvSpPr>
        <p:spPr>
          <a:xfrm>
            <a:off x="1078991" y="1508760"/>
            <a:ext cx="6858001" cy="1780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500"/>
              </a:spcBef>
              <a:defRPr sz="3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One brief.</a:t>
            </a:r>
          </a:p>
          <a:p>
            <a:pPr>
              <a:spcBef>
                <a:spcPts val="500"/>
              </a:spcBef>
              <a:defRPr sz="3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Five specialized agents.</a:t>
            </a:r>
          </a:p>
          <a:p>
            <a:pPr>
              <a:spcBef>
                <a:spcPts val="500"/>
              </a:spcBef>
              <a:defRPr sz="3400" b="1">
                <a:solidFill>
                  <a:srgbClr val="F5F8FF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reviewed result.</a:t>
            </a:r>
          </a:p>
        </p:txBody>
      </p:sp>
      <p:sp>
        <p:nvSpPr>
          <p:cNvPr id="437" name="TextBox 4"/>
          <p:cNvSpPr txBox="1"/>
          <p:nvPr/>
        </p:nvSpPr>
        <p:spPr>
          <a:xfrm>
            <a:off x="1124712" y="4069079"/>
            <a:ext cx="7223760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6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The Social Media Content Studio demonstrates manager-led delegation, parallel platform drafting, reflection, bounded refinement, and human control.</a:t>
            </a:r>
          </a:p>
        </p:txBody>
      </p:sp>
      <p:sp>
        <p:nvSpPr>
          <p:cNvPr id="438" name="Oval 5"/>
          <p:cNvSpPr/>
          <p:nvPr/>
        </p:nvSpPr>
        <p:spPr>
          <a:xfrm>
            <a:off x="8458200" y="1051560"/>
            <a:ext cx="2286000" cy="2286001"/>
          </a:xfrm>
          <a:prstGeom prst="ellipse">
            <a:avLst/>
          </a:prstGeom>
          <a:solidFill>
            <a:srgbClr val="3EDBB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9" name="Oval 6"/>
          <p:cNvSpPr/>
          <p:nvPr/>
        </p:nvSpPr>
        <p:spPr>
          <a:xfrm>
            <a:off x="9555480" y="2423160"/>
            <a:ext cx="1554481" cy="1554481"/>
          </a:xfrm>
          <a:prstGeom prst="ellipse">
            <a:avLst/>
          </a:prstGeom>
          <a:solidFill>
            <a:srgbClr val="65A5F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0" name="Oval 7"/>
          <p:cNvSpPr/>
          <p:nvPr/>
        </p:nvSpPr>
        <p:spPr>
          <a:xfrm>
            <a:off x="8092440" y="3154679"/>
            <a:ext cx="1143001" cy="1143001"/>
          </a:xfrm>
          <a:prstGeom prst="ellipse">
            <a:avLst/>
          </a:prstGeom>
          <a:solidFill>
            <a:srgbClr val="FFC75F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1" name="TextBox 8"/>
          <p:cNvSpPr txBox="1"/>
          <p:nvPr/>
        </p:nvSpPr>
        <p:spPr>
          <a:xfrm>
            <a:off x="1124711" y="5669279"/>
            <a:ext cx="27432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b="1">
                <a:solidFill>
                  <a:srgbClr val="FFC75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QUESTIONS?</a:t>
            </a:r>
          </a:p>
        </p:txBody>
      </p:sp>
      <p:sp>
        <p:nvSpPr>
          <p:cNvPr id="442" name="TextBox 9"/>
          <p:cNvSpPr txBox="1"/>
          <p:nvPr/>
        </p:nvSpPr>
        <p:spPr>
          <a:xfrm>
            <a:off x="1124711" y="6080759"/>
            <a:ext cx="182880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500"/>
              </a:spcBef>
              <a:defRPr sz="1200">
                <a:solidFill>
                  <a:srgbClr val="AEBCD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983</Words>
  <Application>Microsoft Macintosh PowerPoint</Application>
  <PresentationFormat>Custom</PresentationFormat>
  <Paragraphs>182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Murthy, Kalpana</cp:lastModifiedBy>
  <cp:revision>2</cp:revision>
  <dcterms:modified xsi:type="dcterms:W3CDTF">2026-10-23T08:44:09Z</dcterms:modified>
</cp:coreProperties>
</file>